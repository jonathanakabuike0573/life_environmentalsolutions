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TT Fors" charset="1" panose="020B0003030001020000"/>
      <p:regular r:id="rId20"/>
    </p:embeddedFont>
    <p:embeddedFont>
      <p:font typeface="ITC Avant Garde Gothic" charset="1" panose="020B0502020202020204"/>
      <p:regular r:id="rId21"/>
    </p:embeddedFont>
    <p:embeddedFont>
      <p:font typeface="TT Fors Bold" charset="1" panose="020B000303000102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9790217" y="0"/>
            <a:ext cx="8497783" cy="10287000"/>
            <a:chOff x="0" y="0"/>
            <a:chExt cx="1316529" cy="1593725"/>
          </a:xfrm>
        </p:grpSpPr>
        <p:sp>
          <p:nvSpPr>
            <p:cNvPr name="Freeform 3" id="3"/>
            <p:cNvSpPr/>
            <p:nvPr/>
          </p:nvSpPr>
          <p:spPr>
            <a:xfrm flipH="false" flipV="false" rot="0">
              <a:off x="0" y="0"/>
              <a:ext cx="1316529" cy="1593725"/>
            </a:xfrm>
            <a:custGeom>
              <a:avLst/>
              <a:gdLst/>
              <a:ahLst/>
              <a:cxnLst/>
              <a:rect r="r" b="b" t="t" l="l"/>
              <a:pathLst>
                <a:path h="1593725" w="1316529">
                  <a:moveTo>
                    <a:pt x="0" y="0"/>
                  </a:moveTo>
                  <a:lnTo>
                    <a:pt x="1316529" y="0"/>
                  </a:lnTo>
                  <a:lnTo>
                    <a:pt x="1316529" y="1593725"/>
                  </a:lnTo>
                  <a:lnTo>
                    <a:pt x="0" y="1593725"/>
                  </a:lnTo>
                  <a:close/>
                </a:path>
              </a:pathLst>
            </a:custGeom>
            <a:blipFill>
              <a:blip r:embed="rId2"/>
              <a:stretch>
                <a:fillRect l="-10527" t="0" r="-10527" b="0"/>
              </a:stretch>
            </a:blipFill>
          </p:spPr>
        </p:sp>
      </p:grpSp>
      <p:sp>
        <p:nvSpPr>
          <p:cNvPr name="TextBox 4" id="4"/>
          <p:cNvSpPr txBox="true"/>
          <p:nvPr/>
        </p:nvSpPr>
        <p:spPr>
          <a:xfrm rot="0">
            <a:off x="663474" y="8724265"/>
            <a:ext cx="7194651" cy="895985"/>
          </a:xfrm>
          <a:prstGeom prst="rect">
            <a:avLst/>
          </a:prstGeom>
        </p:spPr>
        <p:txBody>
          <a:bodyPr anchor="t" rtlCol="false" tIns="0" lIns="0" bIns="0" rIns="0">
            <a:spAutoFit/>
          </a:bodyPr>
          <a:lstStyle/>
          <a:p>
            <a:pPr algn="l" marL="0" indent="0" lvl="0">
              <a:lnSpc>
                <a:spcPts val="3640"/>
              </a:lnSpc>
            </a:pPr>
            <a:r>
              <a:rPr lang="en-US" sz="2600">
                <a:solidFill>
                  <a:srgbClr val="DBEFFF"/>
                </a:solidFill>
                <a:latin typeface="TT Fors"/>
                <a:ea typeface="TT Fors"/>
                <a:cs typeface="TT Fors"/>
                <a:sym typeface="TT Fors"/>
              </a:rPr>
              <a:t>Mohamed Ali, Jonathan Akabuike, Farhan Habibzai</a:t>
            </a:r>
          </a:p>
        </p:txBody>
      </p:sp>
      <p:grpSp>
        <p:nvGrpSpPr>
          <p:cNvPr name="Group 5" id="5"/>
          <p:cNvGrpSpPr/>
          <p:nvPr/>
        </p:nvGrpSpPr>
        <p:grpSpPr>
          <a:xfrm rot="0">
            <a:off x="7546470" y="8300093"/>
            <a:ext cx="4846643" cy="1791955"/>
            <a:chOff x="0" y="0"/>
            <a:chExt cx="6462190" cy="2389273"/>
          </a:xfrm>
        </p:grpSpPr>
        <p:sp>
          <p:nvSpPr>
            <p:cNvPr name="Freeform 6" id="6"/>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grpSp>
        <p:nvGrpSpPr>
          <p:cNvPr name="Group 9" id="9"/>
          <p:cNvGrpSpPr/>
          <p:nvPr/>
        </p:nvGrpSpPr>
        <p:grpSpPr>
          <a:xfrm rot="0">
            <a:off x="666750" y="666750"/>
            <a:ext cx="9763125" cy="4949824"/>
            <a:chOff x="0" y="0"/>
            <a:chExt cx="13017500" cy="6599766"/>
          </a:xfrm>
        </p:grpSpPr>
        <p:sp>
          <p:nvSpPr>
            <p:cNvPr name="TextBox 10" id="10"/>
            <p:cNvSpPr txBox="true"/>
            <p:nvPr/>
          </p:nvSpPr>
          <p:spPr>
            <a:xfrm rot="0">
              <a:off x="0" y="1184275"/>
              <a:ext cx="13017500" cy="5415491"/>
            </a:xfrm>
            <a:prstGeom prst="rect">
              <a:avLst/>
            </a:prstGeom>
          </p:spPr>
          <p:txBody>
            <a:bodyPr anchor="t" rtlCol="false" tIns="0" lIns="0" bIns="0" rIns="0">
              <a:spAutoFit/>
            </a:bodyPr>
            <a:lstStyle/>
            <a:p>
              <a:pPr algn="l" marL="0" indent="0" lvl="0">
                <a:lnSpc>
                  <a:spcPts val="9999"/>
                </a:lnSpc>
              </a:pPr>
              <a:r>
                <a:rPr lang="en-US" sz="9999" spc="-299">
                  <a:solidFill>
                    <a:srgbClr val="FFFFFF"/>
                  </a:solidFill>
                  <a:latin typeface="ITC Avant Garde Gothic"/>
                  <a:ea typeface="ITC Avant Garde Gothic"/>
                  <a:cs typeface="ITC Avant Garde Gothic"/>
                  <a:sym typeface="ITC Avant Garde Gothic"/>
                </a:rPr>
                <a:t>Smart Indoor Environmental Monitoring</a:t>
              </a:r>
            </a:p>
          </p:txBody>
        </p:sp>
        <p:sp>
          <p:nvSpPr>
            <p:cNvPr name="TextBox 11" id="11"/>
            <p:cNvSpPr txBox="true"/>
            <p:nvPr/>
          </p:nvSpPr>
          <p:spPr>
            <a:xfrm rot="0">
              <a:off x="0" y="-104775"/>
              <a:ext cx="13017500" cy="626322"/>
            </a:xfrm>
            <a:prstGeom prst="rect">
              <a:avLst/>
            </a:prstGeom>
          </p:spPr>
          <p:txBody>
            <a:bodyPr anchor="t" rtlCol="false" tIns="0" lIns="0" bIns="0" rIns="0">
              <a:spAutoFit/>
            </a:bodyPr>
            <a:lstStyle/>
            <a:p>
              <a:pPr algn="l" marL="0" indent="0" lvl="0">
                <a:lnSpc>
                  <a:spcPts val="3640"/>
                </a:lnSpc>
                <a:spcBef>
                  <a:spcPct val="0"/>
                </a:spcBef>
              </a:pPr>
              <a:r>
                <a:rPr lang="en-US" sz="2600">
                  <a:solidFill>
                    <a:srgbClr val="C6E2FF"/>
                  </a:solidFill>
                  <a:latin typeface="ITC Avant Garde Gothic"/>
                  <a:ea typeface="ITC Avant Garde Gothic"/>
                  <a:cs typeface="ITC Avant Garde Gothic"/>
                  <a:sym typeface="ITC Avant Garde Gothic"/>
                </a:rPr>
                <a:t>LIFE ENVIRONMENTAL SOLUTIONS</a:t>
              </a:r>
            </a:p>
          </p:txBody>
        </p:sp>
      </p:grpSp>
      <p:sp>
        <p:nvSpPr>
          <p:cNvPr name="TextBox 12" id="12"/>
          <p:cNvSpPr txBox="true"/>
          <p:nvPr/>
        </p:nvSpPr>
        <p:spPr>
          <a:xfrm rot="0">
            <a:off x="666750" y="7859458"/>
            <a:ext cx="2071099" cy="728868"/>
          </a:xfrm>
          <a:prstGeom prst="rect">
            <a:avLst/>
          </a:prstGeom>
        </p:spPr>
        <p:txBody>
          <a:bodyPr anchor="t" rtlCol="false" tIns="0" lIns="0" bIns="0" rIns="0">
            <a:spAutoFit/>
          </a:bodyPr>
          <a:lstStyle/>
          <a:p>
            <a:pPr algn="ctr">
              <a:lnSpc>
                <a:spcPts val="5364"/>
              </a:lnSpc>
              <a:spcBef>
                <a:spcPct val="0"/>
              </a:spcBef>
            </a:pPr>
            <a:r>
              <a:rPr lang="en-US" sz="3831" spc="-114">
                <a:solidFill>
                  <a:srgbClr val="FFFFFF"/>
                </a:solidFill>
                <a:latin typeface="ITC Avant Garde Gothic"/>
                <a:ea typeface="ITC Avant Garde Gothic"/>
                <a:cs typeface="ITC Avant Garde Gothic"/>
                <a:sym typeface="ITC Avant Garde Gothic"/>
              </a:rPr>
              <a:t>Group 11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A8DCA"/>
        </a:solidFill>
      </p:bgPr>
    </p:bg>
    <p:spTree>
      <p:nvGrpSpPr>
        <p:cNvPr id="1" name=""/>
        <p:cNvGrpSpPr/>
        <p:nvPr/>
      </p:nvGrpSpPr>
      <p:grpSpPr>
        <a:xfrm>
          <a:off x="0" y="0"/>
          <a:ext cx="0" cy="0"/>
          <a:chOff x="0" y="0"/>
          <a:chExt cx="0" cy="0"/>
        </a:xfrm>
      </p:grpSpPr>
      <p:grpSp>
        <p:nvGrpSpPr>
          <p:cNvPr name="Group 2" id="2"/>
          <p:cNvGrpSpPr/>
          <p:nvPr/>
        </p:nvGrpSpPr>
        <p:grpSpPr>
          <a:xfrm rot="0">
            <a:off x="10734675" y="666750"/>
            <a:ext cx="6886575" cy="8953500"/>
            <a:chOff x="0" y="0"/>
            <a:chExt cx="815850" cy="1060718"/>
          </a:xfrm>
        </p:grpSpPr>
        <p:sp>
          <p:nvSpPr>
            <p:cNvPr name="Freeform 3" id="3"/>
            <p:cNvSpPr/>
            <p:nvPr/>
          </p:nvSpPr>
          <p:spPr>
            <a:xfrm flipH="false" flipV="false" rot="0">
              <a:off x="0" y="0"/>
              <a:ext cx="815850" cy="1060718"/>
            </a:xfrm>
            <a:custGeom>
              <a:avLst/>
              <a:gdLst/>
              <a:ahLst/>
              <a:cxnLst/>
              <a:rect r="r" b="b" t="t" l="l"/>
              <a:pathLst>
                <a:path h="1060718" w="815850">
                  <a:moveTo>
                    <a:pt x="0" y="0"/>
                  </a:moveTo>
                  <a:lnTo>
                    <a:pt x="815850" y="0"/>
                  </a:lnTo>
                  <a:lnTo>
                    <a:pt x="815850" y="1060718"/>
                  </a:lnTo>
                  <a:lnTo>
                    <a:pt x="0" y="1060718"/>
                  </a:lnTo>
                  <a:close/>
                </a:path>
              </a:pathLst>
            </a:custGeom>
            <a:blipFill>
              <a:blip r:embed="rId2"/>
              <a:stretch>
                <a:fillRect l="0" t="-271" r="0" b="-271"/>
              </a:stretch>
            </a:blipFill>
          </p:spPr>
        </p:sp>
      </p:grpSp>
      <p:grpSp>
        <p:nvGrpSpPr>
          <p:cNvPr name="Group 4" id="4"/>
          <p:cNvGrpSpPr/>
          <p:nvPr/>
        </p:nvGrpSpPr>
        <p:grpSpPr>
          <a:xfrm rot="0">
            <a:off x="666750" y="666750"/>
            <a:ext cx="8324850" cy="5071110"/>
            <a:chOff x="0" y="0"/>
            <a:chExt cx="11099800" cy="6761480"/>
          </a:xfrm>
        </p:grpSpPr>
        <p:sp>
          <p:nvSpPr>
            <p:cNvPr name="TextBox 5" id="5"/>
            <p:cNvSpPr txBox="true"/>
            <p:nvPr/>
          </p:nvSpPr>
          <p:spPr>
            <a:xfrm rot="0">
              <a:off x="0" y="-9525"/>
              <a:ext cx="11099800" cy="29728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FFFFFF"/>
                  </a:solidFill>
                  <a:latin typeface="ITC Avant Garde Gothic"/>
                  <a:ea typeface="ITC Avant Garde Gothic"/>
                  <a:cs typeface="ITC Avant Garde Gothic"/>
                  <a:sym typeface="ITC Avant Garde Gothic"/>
                </a:rPr>
                <a:t>Problem Statement</a:t>
              </a:r>
            </a:p>
          </p:txBody>
        </p:sp>
        <p:sp>
          <p:nvSpPr>
            <p:cNvPr name="TextBox 6" id="6"/>
            <p:cNvSpPr txBox="true"/>
            <p:nvPr/>
          </p:nvSpPr>
          <p:spPr>
            <a:xfrm rot="0">
              <a:off x="0" y="3514725"/>
              <a:ext cx="11099800" cy="714375"/>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C6E2FF"/>
                  </a:solidFill>
                  <a:latin typeface="ITC Avant Garde Gothic"/>
                  <a:ea typeface="ITC Avant Garde Gothic"/>
                  <a:cs typeface="ITC Avant Garde Gothic"/>
                  <a:sym typeface="ITC Avant Garde Gothic"/>
                </a:rPr>
                <a:t>Indoor Air Quality Issues</a:t>
              </a:r>
            </a:p>
          </p:txBody>
        </p:sp>
        <p:sp>
          <p:nvSpPr>
            <p:cNvPr name="TextBox 7" id="7"/>
            <p:cNvSpPr txBox="true"/>
            <p:nvPr/>
          </p:nvSpPr>
          <p:spPr>
            <a:xfrm rot="0">
              <a:off x="0" y="4813300"/>
              <a:ext cx="9182100" cy="1948180"/>
            </a:xfrm>
            <a:prstGeom prst="rect">
              <a:avLst/>
            </a:prstGeom>
          </p:spPr>
          <p:txBody>
            <a:bodyPr anchor="t" rtlCol="false" tIns="0" lIns="0" bIns="0" rIns="0">
              <a:spAutoFit/>
            </a:bodyPr>
            <a:lstStyle/>
            <a:p>
              <a:pPr algn="l" marL="0" indent="0" lvl="0">
                <a:lnSpc>
                  <a:spcPts val="2940"/>
                </a:lnSpc>
              </a:pPr>
              <a:r>
                <a:rPr lang="en-US" sz="2100">
                  <a:solidFill>
                    <a:srgbClr val="DBEFFF"/>
                  </a:solidFill>
                  <a:latin typeface="TT Fors"/>
                  <a:ea typeface="TT Fors"/>
                  <a:cs typeface="TT Fors"/>
                  <a:sym typeface="TT Fors"/>
                </a:rPr>
                <a:t>Poor indoor air quality and energy inefficiency are critical challenges affecting health and comfort in homes and workplaces, leading to increased concerns about sustainability and well-being.</a:t>
              </a:r>
            </a:p>
          </p:txBody>
        </p:sp>
      </p:grpSp>
      <p:grpSp>
        <p:nvGrpSpPr>
          <p:cNvPr name="Group 8" id="8"/>
          <p:cNvGrpSpPr/>
          <p:nvPr/>
        </p:nvGrpSpPr>
        <p:grpSpPr>
          <a:xfrm rot="0">
            <a:off x="-1303343" y="7829550"/>
            <a:ext cx="4846643" cy="1791955"/>
            <a:chOff x="0" y="0"/>
            <a:chExt cx="6462190" cy="2389273"/>
          </a:xfrm>
        </p:grpSpPr>
        <p:sp>
          <p:nvSpPr>
            <p:cNvPr name="Freeform 9" id="9"/>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1201400" cy="7058025"/>
            <a:chOff x="0" y="0"/>
            <a:chExt cx="14935200" cy="9410700"/>
          </a:xfrm>
        </p:grpSpPr>
        <p:sp>
          <p:nvSpPr>
            <p:cNvPr name="TextBox 3" id="3"/>
            <p:cNvSpPr txBox="true"/>
            <p:nvPr/>
          </p:nvSpPr>
          <p:spPr>
            <a:xfrm rot="0">
              <a:off x="0" y="-9525"/>
              <a:ext cx="14935200" cy="29728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FFFFFF"/>
                  </a:solidFill>
                  <a:latin typeface="ITC Avant Garde Gothic"/>
                  <a:ea typeface="ITC Avant Garde Gothic"/>
                  <a:cs typeface="ITC Avant Garde Gothic"/>
                  <a:sym typeface="ITC Avant Garde Gothic"/>
                </a:rPr>
                <a:t>App Concept Overview</a:t>
              </a:r>
            </a:p>
          </p:txBody>
        </p:sp>
        <p:sp>
          <p:nvSpPr>
            <p:cNvPr name="TextBox 4" id="4"/>
            <p:cNvSpPr txBox="true"/>
            <p:nvPr/>
          </p:nvSpPr>
          <p:spPr>
            <a:xfrm rot="0">
              <a:off x="0" y="3581400"/>
              <a:ext cx="13017500" cy="5829300"/>
            </a:xfrm>
            <a:prstGeom prst="rect">
              <a:avLst/>
            </a:prstGeom>
          </p:spPr>
          <p:txBody>
            <a:bodyPr anchor="t" rtlCol="false" tIns="0" lIns="0" bIns="0" rIns="0">
              <a:spAutoFit/>
            </a:bodyPr>
            <a:lstStyle/>
            <a:p>
              <a:pPr algn="l" marL="690879" indent="-345439" lvl="1">
                <a:lnSpc>
                  <a:spcPts val="3839"/>
                </a:lnSpc>
                <a:spcBef>
                  <a:spcPct val="0"/>
                </a:spcBef>
                <a:buAutoNum type="arabicPeriod" startAt="1"/>
              </a:pPr>
              <a:r>
                <a:rPr lang="en-US" b="true" sz="3199" spc="-95">
                  <a:solidFill>
                    <a:srgbClr val="DBEFFF"/>
                  </a:solidFill>
                  <a:latin typeface="TT Fors Bold"/>
                  <a:ea typeface="TT Fors Bold"/>
                  <a:cs typeface="TT Fors Bold"/>
                  <a:sym typeface="TT Fors Bold"/>
                </a:rPr>
                <a:t>Automated smart lighti</a:t>
              </a:r>
              <a:r>
                <a:rPr lang="en-US" b="true" sz="3199" spc="-95" strike="noStrike" u="none">
                  <a:solidFill>
                    <a:srgbClr val="DBEFFF"/>
                  </a:solidFill>
                  <a:latin typeface="TT Fors Bold"/>
                  <a:ea typeface="TT Fors Bold"/>
                  <a:cs typeface="TT Fors Bold"/>
                  <a:sym typeface="TT Fors Bold"/>
                </a:rPr>
                <a:t>n</a:t>
              </a:r>
              <a:r>
                <a:rPr lang="en-US" b="true" sz="3199" spc="-95" strike="noStrike" u="none">
                  <a:solidFill>
                    <a:srgbClr val="DBEFFF"/>
                  </a:solidFill>
                  <a:latin typeface="TT Fors Bold"/>
                  <a:ea typeface="TT Fors Bold"/>
                  <a:cs typeface="TT Fors Bold"/>
                  <a:sym typeface="TT Fors Bold"/>
                </a:rPr>
                <a:t>g a</a:t>
              </a:r>
              <a:r>
                <a:rPr lang="en-US" b="true" sz="3199" spc="-95" strike="noStrike" u="none">
                  <a:solidFill>
                    <a:srgbClr val="DBEFFF"/>
                  </a:solidFill>
                  <a:latin typeface="TT Fors Bold"/>
                  <a:ea typeface="TT Fors Bold"/>
                  <a:cs typeface="TT Fors Bold"/>
                  <a:sym typeface="TT Fors Bold"/>
                </a:rPr>
                <a:t>n</a:t>
              </a:r>
              <a:r>
                <a:rPr lang="en-US" b="true" sz="3199" spc="-95" strike="noStrike" u="none">
                  <a:solidFill>
                    <a:srgbClr val="DBEFFF"/>
                  </a:solidFill>
                  <a:latin typeface="TT Fors Bold"/>
                  <a:ea typeface="TT Fors Bold"/>
                  <a:cs typeface="TT Fors Bold"/>
                  <a:sym typeface="TT Fors Bold"/>
                </a:rPr>
                <a:t>d safety alerts based </a:t>
              </a:r>
              <a:r>
                <a:rPr lang="en-US" b="true" sz="3199" spc="-95" strike="noStrike" u="none">
                  <a:solidFill>
                    <a:srgbClr val="DBEFFF"/>
                  </a:solidFill>
                  <a:latin typeface="TT Fors Bold"/>
                  <a:ea typeface="TT Fors Bold"/>
                  <a:cs typeface="TT Fors Bold"/>
                  <a:sym typeface="TT Fors Bold"/>
                </a:rPr>
                <a:t>o</a:t>
              </a:r>
              <a:r>
                <a:rPr lang="en-US" b="true" sz="3199" spc="-95" strike="noStrike" u="none">
                  <a:solidFill>
                    <a:srgbClr val="DBEFFF"/>
                  </a:solidFill>
                  <a:latin typeface="TT Fors Bold"/>
                  <a:ea typeface="TT Fors Bold"/>
                  <a:cs typeface="TT Fors Bold"/>
                  <a:sym typeface="TT Fors Bold"/>
                </a:rPr>
                <a:t>n room occup</a:t>
              </a:r>
              <a:r>
                <a:rPr lang="en-US" b="true" sz="3199" spc="-95" strike="noStrike" u="none">
                  <a:solidFill>
                    <a:srgbClr val="DBEFFF"/>
                  </a:solidFill>
                  <a:latin typeface="TT Fors Bold"/>
                  <a:ea typeface="TT Fors Bold"/>
                  <a:cs typeface="TT Fors Bold"/>
                  <a:sym typeface="TT Fors Bold"/>
                </a:rPr>
                <a:t>a</a:t>
              </a:r>
              <a:r>
                <a:rPr lang="en-US" b="true" sz="3199" spc="-95" strike="noStrike" u="none">
                  <a:solidFill>
                    <a:srgbClr val="DBEFFF"/>
                  </a:solidFill>
                  <a:latin typeface="TT Fors Bold"/>
                  <a:ea typeface="TT Fors Bold"/>
                  <a:cs typeface="TT Fors Bold"/>
                  <a:sym typeface="TT Fors Bold"/>
                </a:rPr>
                <a:t>ncy and a</a:t>
              </a:r>
              <a:r>
                <a:rPr lang="en-US" b="true" sz="3199" spc="-95" strike="noStrike" u="none">
                  <a:solidFill>
                    <a:srgbClr val="DBEFFF"/>
                  </a:solidFill>
                  <a:latin typeface="TT Fors Bold"/>
                  <a:ea typeface="TT Fors Bold"/>
                  <a:cs typeface="TT Fors Bold"/>
                  <a:sym typeface="TT Fors Bold"/>
                </a:rPr>
                <a:t>i</a:t>
              </a:r>
              <a:r>
                <a:rPr lang="en-US" b="true" sz="3199" spc="-95" strike="noStrike" u="none">
                  <a:solidFill>
                    <a:srgbClr val="DBEFFF"/>
                  </a:solidFill>
                  <a:latin typeface="TT Fors Bold"/>
                  <a:ea typeface="TT Fors Bold"/>
                  <a:cs typeface="TT Fors Bold"/>
                  <a:sym typeface="TT Fors Bold"/>
                </a:rPr>
                <a:t>r quality.</a:t>
              </a:r>
            </a:p>
            <a:p>
              <a:pPr algn="l" marL="690879" indent="-345439" lvl="1">
                <a:lnSpc>
                  <a:spcPts val="3839"/>
                </a:lnSpc>
                <a:spcBef>
                  <a:spcPct val="0"/>
                </a:spcBef>
                <a:buAutoNum type="arabicPeriod" startAt="1"/>
              </a:pPr>
              <a:r>
                <a:rPr lang="en-US" b="true" sz="3199" spc="-95" strike="noStrike" u="none">
                  <a:solidFill>
                    <a:srgbClr val="DBEFFF"/>
                  </a:solidFill>
                  <a:latin typeface="TT Fors Bold"/>
                  <a:ea typeface="TT Fors Bold"/>
                  <a:cs typeface="TT Fors Bold"/>
                  <a:sym typeface="TT Fors Bold"/>
                </a:rPr>
                <a:t>Aft</a:t>
              </a:r>
              <a:r>
                <a:rPr lang="en-US" b="true" sz="3199" spc="-95" strike="noStrike" u="none">
                  <a:solidFill>
                    <a:srgbClr val="DBEFFF"/>
                  </a:solidFill>
                  <a:latin typeface="TT Fors Bold"/>
                  <a:ea typeface="TT Fors Bold"/>
                  <a:cs typeface="TT Fors Bold"/>
                  <a:sym typeface="TT Fors Bold"/>
                </a:rPr>
                <a:t>e</a:t>
              </a:r>
              <a:r>
                <a:rPr lang="en-US" b="true" sz="3199" spc="-95" strike="noStrike" u="none">
                  <a:solidFill>
                    <a:srgbClr val="DBEFFF"/>
                  </a:solidFill>
                  <a:latin typeface="TT Fors Bold"/>
                  <a:ea typeface="TT Fors Bold"/>
                  <a:cs typeface="TT Fors Bold"/>
                  <a:sym typeface="TT Fors Bold"/>
                </a:rPr>
                <a:t>r-hours</a:t>
              </a:r>
              <a:r>
                <a:rPr lang="en-US" b="true" sz="3199" spc="-95" strike="noStrike" u="none">
                  <a:solidFill>
                    <a:srgbClr val="DBEFFF"/>
                  </a:solidFill>
                  <a:latin typeface="TT Fors Bold"/>
                  <a:ea typeface="TT Fors Bold"/>
                  <a:cs typeface="TT Fors Bold"/>
                  <a:sym typeface="TT Fors Bold"/>
                </a:rPr>
                <a:t> </a:t>
              </a:r>
              <a:r>
                <a:rPr lang="en-US" b="true" sz="3199" spc="-95" strike="noStrike" u="none">
                  <a:solidFill>
                    <a:srgbClr val="DBEFFF"/>
                  </a:solidFill>
                  <a:latin typeface="TT Fors Bold"/>
                  <a:ea typeface="TT Fors Bold"/>
                  <a:cs typeface="TT Fors Bold"/>
                  <a:sym typeface="TT Fors Bold"/>
                </a:rPr>
                <a:t>secur</a:t>
              </a:r>
              <a:r>
                <a:rPr lang="en-US" b="true" sz="3199" spc="-95" strike="noStrike" u="none">
                  <a:solidFill>
                    <a:srgbClr val="DBEFFF"/>
                  </a:solidFill>
                  <a:latin typeface="TT Fors Bold"/>
                  <a:ea typeface="TT Fors Bold"/>
                  <a:cs typeface="TT Fors Bold"/>
                  <a:sym typeface="TT Fors Bold"/>
                </a:rPr>
                <a:t>i</a:t>
              </a:r>
              <a:r>
                <a:rPr lang="en-US" b="true" sz="3199" spc="-95" strike="noStrike" u="none">
                  <a:solidFill>
                    <a:srgbClr val="DBEFFF"/>
                  </a:solidFill>
                  <a:latin typeface="TT Fors Bold"/>
                  <a:ea typeface="TT Fors Bold"/>
                  <a:cs typeface="TT Fors Bold"/>
                  <a:sym typeface="TT Fors Bold"/>
                </a:rPr>
                <a:t>ty mo</a:t>
              </a:r>
              <a:r>
                <a:rPr lang="en-US" b="true" sz="3199" spc="-95" strike="noStrike" u="none">
                  <a:solidFill>
                    <a:srgbClr val="DBEFFF"/>
                  </a:solidFill>
                  <a:latin typeface="TT Fors Bold"/>
                  <a:ea typeface="TT Fors Bold"/>
                  <a:cs typeface="TT Fors Bold"/>
                  <a:sym typeface="TT Fors Bold"/>
                </a:rPr>
                <a:t>n</a:t>
              </a:r>
              <a:r>
                <a:rPr lang="en-US" b="true" sz="3199" spc="-95" strike="noStrike" u="none">
                  <a:solidFill>
                    <a:srgbClr val="DBEFFF"/>
                  </a:solidFill>
                  <a:latin typeface="TT Fors Bold"/>
                  <a:ea typeface="TT Fors Bold"/>
                  <a:cs typeface="TT Fors Bold"/>
                  <a:sym typeface="TT Fors Bold"/>
                </a:rPr>
                <a:t>itoring with instant alerts </a:t>
              </a:r>
              <a:r>
                <a:rPr lang="en-US" b="true" sz="3199" spc="-95" strike="noStrike" u="none">
                  <a:solidFill>
                    <a:srgbClr val="DBEFFF"/>
                  </a:solidFill>
                  <a:latin typeface="TT Fors Bold"/>
                  <a:ea typeface="TT Fors Bold"/>
                  <a:cs typeface="TT Fors Bold"/>
                  <a:sym typeface="TT Fors Bold"/>
                </a:rPr>
                <a:t>o</a:t>
              </a:r>
              <a:r>
                <a:rPr lang="en-US" b="true" sz="3199" spc="-95" strike="noStrike" u="none">
                  <a:solidFill>
                    <a:srgbClr val="DBEFFF"/>
                  </a:solidFill>
                  <a:latin typeface="TT Fors Bold"/>
                  <a:ea typeface="TT Fors Bold"/>
                  <a:cs typeface="TT Fors Bold"/>
                  <a:sym typeface="TT Fors Bold"/>
                </a:rPr>
                <a:t>n unauth</a:t>
              </a:r>
              <a:r>
                <a:rPr lang="en-US" b="true" sz="3199" spc="-95" strike="noStrike" u="none">
                  <a:solidFill>
                    <a:srgbClr val="DBEFFF"/>
                  </a:solidFill>
                  <a:latin typeface="TT Fors Bold"/>
                  <a:ea typeface="TT Fors Bold"/>
                  <a:cs typeface="TT Fors Bold"/>
                  <a:sym typeface="TT Fors Bold"/>
                </a:rPr>
                <a:t>or</a:t>
              </a:r>
              <a:r>
                <a:rPr lang="en-US" b="true" sz="3199" spc="-95" strike="noStrike" u="none">
                  <a:solidFill>
                    <a:srgbClr val="DBEFFF"/>
                  </a:solidFill>
                  <a:latin typeface="TT Fors Bold"/>
                  <a:ea typeface="TT Fors Bold"/>
                  <a:cs typeface="TT Fors Bold"/>
                  <a:sym typeface="TT Fors Bold"/>
                </a:rPr>
                <a:t>ized</a:t>
              </a:r>
              <a:r>
                <a:rPr lang="en-US" b="true" sz="3199" spc="-95" strike="noStrike" u="none">
                  <a:solidFill>
                    <a:srgbClr val="DBEFFF"/>
                  </a:solidFill>
                  <a:latin typeface="TT Fors Bold"/>
                  <a:ea typeface="TT Fors Bold"/>
                  <a:cs typeface="TT Fors Bold"/>
                  <a:sym typeface="TT Fors Bold"/>
                </a:rPr>
                <a:t> </a:t>
              </a:r>
              <a:r>
                <a:rPr lang="en-US" b="true" sz="3199" spc="-95" strike="noStrike" u="none">
                  <a:solidFill>
                    <a:srgbClr val="DBEFFF"/>
                  </a:solidFill>
                  <a:latin typeface="TT Fors Bold"/>
                  <a:ea typeface="TT Fors Bold"/>
                  <a:cs typeface="TT Fors Bold"/>
                  <a:sym typeface="TT Fors Bold"/>
                </a:rPr>
                <a:t>activity.</a:t>
              </a:r>
            </a:p>
            <a:p>
              <a:pPr algn="l" marL="690879" indent="-345439" lvl="1">
                <a:lnSpc>
                  <a:spcPts val="3839"/>
                </a:lnSpc>
                <a:spcBef>
                  <a:spcPct val="0"/>
                </a:spcBef>
                <a:buAutoNum type="arabicPeriod" startAt="1"/>
              </a:pPr>
              <a:r>
                <a:rPr lang="en-US" b="true" sz="3199" spc="-95" strike="noStrike" u="none">
                  <a:solidFill>
                    <a:srgbClr val="DBEFFF"/>
                  </a:solidFill>
                  <a:latin typeface="TT Fors Bold"/>
                  <a:ea typeface="TT Fors Bold"/>
                  <a:cs typeface="TT Fors Bold"/>
                  <a:sym typeface="TT Fors Bold"/>
                </a:rPr>
                <a:t>C</a:t>
              </a:r>
              <a:r>
                <a:rPr lang="en-US" b="true" sz="3199" spc="-95" strike="noStrike" u="none">
                  <a:solidFill>
                    <a:srgbClr val="DBEFFF"/>
                  </a:solidFill>
                  <a:latin typeface="TT Fors Bold"/>
                  <a:ea typeface="TT Fors Bold"/>
                  <a:cs typeface="TT Fors Bold"/>
                  <a:sym typeface="TT Fors Bold"/>
                </a:rPr>
                <a:t>en</a:t>
              </a:r>
              <a:r>
                <a:rPr lang="en-US" b="true" sz="3199" spc="-95" strike="noStrike" u="none">
                  <a:solidFill>
                    <a:srgbClr val="DBEFFF"/>
                  </a:solidFill>
                  <a:latin typeface="TT Fors Bold"/>
                  <a:ea typeface="TT Fors Bold"/>
                  <a:cs typeface="TT Fors Bold"/>
                  <a:sym typeface="TT Fors Bold"/>
                </a:rPr>
                <a:t>tralized e</a:t>
              </a:r>
              <a:r>
                <a:rPr lang="en-US" b="true" sz="3199" spc="-95" strike="noStrike" u="none">
                  <a:solidFill>
                    <a:srgbClr val="DBEFFF"/>
                  </a:solidFill>
                  <a:latin typeface="TT Fors Bold"/>
                  <a:ea typeface="TT Fors Bold"/>
                  <a:cs typeface="TT Fors Bold"/>
                  <a:sym typeface="TT Fors Bold"/>
                </a:rPr>
                <a:t>v</a:t>
              </a:r>
              <a:r>
                <a:rPr lang="en-US" b="true" sz="3199" spc="-95" strike="noStrike" u="none">
                  <a:solidFill>
                    <a:srgbClr val="DBEFFF"/>
                  </a:solidFill>
                  <a:latin typeface="TT Fors Bold"/>
                  <a:ea typeface="TT Fors Bold"/>
                  <a:cs typeface="TT Fors Bold"/>
                  <a:sym typeface="TT Fors Bold"/>
                </a:rPr>
                <a:t>ent h</a:t>
              </a:r>
              <a:r>
                <a:rPr lang="en-US" b="true" sz="3199" spc="-95" strike="noStrike" u="none">
                  <a:solidFill>
                    <a:srgbClr val="DBEFFF"/>
                  </a:solidFill>
                  <a:latin typeface="TT Fors Bold"/>
                  <a:ea typeface="TT Fors Bold"/>
                  <a:cs typeface="TT Fors Bold"/>
                  <a:sym typeface="TT Fors Bold"/>
                </a:rPr>
                <a:t>i</a:t>
              </a:r>
              <a:r>
                <a:rPr lang="en-US" b="true" sz="3199" spc="-95" strike="noStrike" u="none">
                  <a:solidFill>
                    <a:srgbClr val="DBEFFF"/>
                  </a:solidFill>
                  <a:latin typeface="TT Fors Bold"/>
                  <a:ea typeface="TT Fors Bold"/>
                  <a:cs typeface="TT Fors Bold"/>
                  <a:sym typeface="TT Fors Bold"/>
                </a:rPr>
                <a:t>sto</a:t>
              </a:r>
              <a:r>
                <a:rPr lang="en-US" b="true" sz="3199" spc="-95" strike="noStrike" u="none">
                  <a:solidFill>
                    <a:srgbClr val="DBEFFF"/>
                  </a:solidFill>
                  <a:latin typeface="TT Fors Bold"/>
                  <a:ea typeface="TT Fors Bold"/>
                  <a:cs typeface="TT Fors Bold"/>
                  <a:sym typeface="TT Fors Bold"/>
                </a:rPr>
                <a:t>r</a:t>
              </a:r>
              <a:r>
                <a:rPr lang="en-US" b="true" sz="3199" spc="-95" strike="noStrike" u="none">
                  <a:solidFill>
                    <a:srgbClr val="DBEFFF"/>
                  </a:solidFill>
                  <a:latin typeface="TT Fors Bold"/>
                  <a:ea typeface="TT Fors Bold"/>
                  <a:cs typeface="TT Fors Bold"/>
                  <a:sym typeface="TT Fors Bold"/>
                </a:rPr>
                <a:t>y l</a:t>
              </a:r>
              <a:r>
                <a:rPr lang="en-US" b="true" sz="3199" spc="-95" strike="noStrike" u="none">
                  <a:solidFill>
                    <a:srgbClr val="DBEFFF"/>
                  </a:solidFill>
                  <a:latin typeface="TT Fors Bold"/>
                  <a:ea typeface="TT Fors Bold"/>
                  <a:cs typeface="TT Fors Bold"/>
                  <a:sym typeface="TT Fors Bold"/>
                </a:rPr>
                <a:t>o</a:t>
              </a:r>
              <a:r>
                <a:rPr lang="en-US" b="true" sz="3199" spc="-95" strike="noStrike" u="none">
                  <a:solidFill>
                    <a:srgbClr val="DBEFFF"/>
                  </a:solidFill>
                  <a:latin typeface="TT Fors Bold"/>
                  <a:ea typeface="TT Fors Bold"/>
                  <a:cs typeface="TT Fors Bold"/>
                  <a:sym typeface="TT Fors Bold"/>
                </a:rPr>
                <a:t>ggi</a:t>
              </a:r>
              <a:r>
                <a:rPr lang="en-US" b="true" sz="3199" spc="-95" strike="noStrike" u="none">
                  <a:solidFill>
                    <a:srgbClr val="DBEFFF"/>
                  </a:solidFill>
                  <a:latin typeface="TT Fors Bold"/>
                  <a:ea typeface="TT Fors Bold"/>
                  <a:cs typeface="TT Fors Bold"/>
                  <a:sym typeface="TT Fors Bold"/>
                </a:rPr>
                <a:t>n</a:t>
              </a:r>
              <a:r>
                <a:rPr lang="en-US" b="true" sz="3199" spc="-95" strike="noStrike" u="none">
                  <a:solidFill>
                    <a:srgbClr val="DBEFFF"/>
                  </a:solidFill>
                  <a:latin typeface="TT Fors Bold"/>
                  <a:ea typeface="TT Fors Bold"/>
                  <a:cs typeface="TT Fors Bold"/>
                  <a:sym typeface="TT Fors Bold"/>
                </a:rPr>
                <a:t>g for all security and air-quality incidents.</a:t>
              </a:r>
            </a:p>
            <a:p>
              <a:pPr algn="l" marL="690879" indent="-345439" lvl="1">
                <a:lnSpc>
                  <a:spcPts val="3839"/>
                </a:lnSpc>
                <a:spcBef>
                  <a:spcPct val="0"/>
                </a:spcBef>
                <a:buAutoNum type="arabicPeriod" startAt="1"/>
              </a:pPr>
              <a:r>
                <a:rPr lang="en-US" b="true" sz="3199" spc="-95" strike="noStrike" u="none">
                  <a:solidFill>
                    <a:srgbClr val="DBEFFF"/>
                  </a:solidFill>
                  <a:latin typeface="TT Fors Bold"/>
                  <a:ea typeface="TT Fors Bold"/>
                  <a:cs typeface="TT Fors Bold"/>
                  <a:sym typeface="TT Fors Bold"/>
                </a:rPr>
                <a:t>Reliable, real-ti</a:t>
              </a:r>
              <a:r>
                <a:rPr lang="en-US" b="true" sz="3199" spc="-95" strike="noStrike" u="none">
                  <a:solidFill>
                    <a:srgbClr val="DBEFFF"/>
                  </a:solidFill>
                  <a:latin typeface="TT Fors Bold"/>
                  <a:ea typeface="TT Fors Bold"/>
                  <a:cs typeface="TT Fors Bold"/>
                  <a:sym typeface="TT Fors Bold"/>
                </a:rPr>
                <a:t>me</a:t>
              </a:r>
              <a:r>
                <a:rPr lang="en-US" b="true" sz="3199" spc="-95" strike="noStrike" u="none">
                  <a:solidFill>
                    <a:srgbClr val="DBEFFF"/>
                  </a:solidFill>
                  <a:latin typeface="TT Fors Bold"/>
                  <a:ea typeface="TT Fors Bold"/>
                  <a:cs typeface="TT Fors Bold"/>
                  <a:sym typeface="TT Fors Bold"/>
                </a:rPr>
                <a:t> sy</a:t>
              </a:r>
              <a:r>
                <a:rPr lang="en-US" b="true" sz="3199" spc="-95" strike="noStrike" u="none">
                  <a:solidFill>
                    <a:srgbClr val="DBEFFF"/>
                  </a:solidFill>
                  <a:latin typeface="TT Fors Bold"/>
                  <a:ea typeface="TT Fors Bold"/>
                  <a:cs typeface="TT Fors Bold"/>
                  <a:sym typeface="TT Fors Bold"/>
                </a:rPr>
                <a:t>n</a:t>
              </a:r>
              <a:r>
                <a:rPr lang="en-US" b="true" sz="3199" spc="-95" strike="noStrike" u="none">
                  <a:solidFill>
                    <a:srgbClr val="DBEFFF"/>
                  </a:solidFill>
                  <a:latin typeface="TT Fors Bold"/>
                  <a:ea typeface="TT Fors Bold"/>
                  <a:cs typeface="TT Fors Bold"/>
                  <a:sym typeface="TT Fors Bold"/>
                </a:rPr>
                <a:t>c be</a:t>
              </a:r>
              <a:r>
                <a:rPr lang="en-US" b="true" sz="3199" spc="-95" strike="noStrike" u="none">
                  <a:solidFill>
                    <a:srgbClr val="DBEFFF"/>
                  </a:solidFill>
                  <a:latin typeface="TT Fors Bold"/>
                  <a:ea typeface="TT Fors Bold"/>
                  <a:cs typeface="TT Fors Bold"/>
                  <a:sym typeface="TT Fors Bold"/>
                </a:rPr>
                <a:t>t</a:t>
              </a:r>
              <a:r>
                <a:rPr lang="en-US" b="true" sz="3199" spc="-95" strike="noStrike" u="none">
                  <a:solidFill>
                    <a:srgbClr val="DBEFFF"/>
                  </a:solidFill>
                  <a:latin typeface="TT Fors Bold"/>
                  <a:ea typeface="TT Fors Bold"/>
                  <a:cs typeface="TT Fors Bold"/>
                  <a:sym typeface="TT Fors Bold"/>
                </a:rPr>
                <a:t>ween </a:t>
              </a:r>
              <a:r>
                <a:rPr lang="en-US" b="true" sz="3199" spc="-95" strike="noStrike" u="none">
                  <a:solidFill>
                    <a:srgbClr val="DBEFFF"/>
                  </a:solidFill>
                  <a:latin typeface="TT Fors Bold"/>
                  <a:ea typeface="TT Fors Bold"/>
                  <a:cs typeface="TT Fors Bold"/>
                  <a:sym typeface="TT Fors Bold"/>
                </a:rPr>
                <a:t>al</a:t>
              </a:r>
              <a:r>
                <a:rPr lang="en-US" b="true" sz="3199" spc="-95" strike="noStrike" u="none">
                  <a:solidFill>
                    <a:srgbClr val="DBEFFF"/>
                  </a:solidFill>
                  <a:latin typeface="TT Fors Bold"/>
                  <a:ea typeface="TT Fors Bold"/>
                  <a:cs typeface="TT Fors Bold"/>
                  <a:sym typeface="TT Fors Bold"/>
                </a:rPr>
                <a:t>l</a:t>
              </a:r>
              <a:r>
                <a:rPr lang="en-US" b="true" sz="3199" spc="-95" strike="noStrike" u="none">
                  <a:solidFill>
                    <a:srgbClr val="DBEFFF"/>
                  </a:solidFill>
                  <a:latin typeface="TT Fors Bold"/>
                  <a:ea typeface="TT Fors Bold"/>
                  <a:cs typeface="TT Fors Bold"/>
                  <a:sym typeface="TT Fors Bold"/>
                </a:rPr>
                <a:t> s</a:t>
              </a:r>
              <a:r>
                <a:rPr lang="en-US" b="true" sz="3199" spc="-95" strike="noStrike" u="none">
                  <a:solidFill>
                    <a:srgbClr val="DBEFFF"/>
                  </a:solidFill>
                  <a:latin typeface="TT Fors Bold"/>
                  <a:ea typeface="TT Fors Bold"/>
                  <a:cs typeface="TT Fors Bold"/>
                  <a:sym typeface="TT Fors Bold"/>
                </a:rPr>
                <a:t>ens</a:t>
              </a:r>
              <a:r>
                <a:rPr lang="en-US" b="true" sz="3199" spc="-95" strike="noStrike" u="none">
                  <a:solidFill>
                    <a:srgbClr val="DBEFFF"/>
                  </a:solidFill>
                  <a:latin typeface="TT Fors Bold"/>
                  <a:ea typeface="TT Fors Bold"/>
                  <a:cs typeface="TT Fors Bold"/>
                  <a:sym typeface="TT Fors Bold"/>
                </a:rPr>
                <a:t>o</a:t>
              </a:r>
              <a:r>
                <a:rPr lang="en-US" b="true" sz="3199" spc="-95" strike="noStrike" u="none">
                  <a:solidFill>
                    <a:srgbClr val="DBEFFF"/>
                  </a:solidFill>
                  <a:latin typeface="TT Fors Bold"/>
                  <a:ea typeface="TT Fors Bold"/>
                  <a:cs typeface="TT Fors Bold"/>
                  <a:sym typeface="TT Fors Bold"/>
                </a:rPr>
                <a:t>rs and the mobi</a:t>
              </a:r>
              <a:r>
                <a:rPr lang="en-US" b="true" sz="3199" spc="-95" strike="noStrike" u="none">
                  <a:solidFill>
                    <a:srgbClr val="DBEFFF"/>
                  </a:solidFill>
                  <a:latin typeface="TT Fors Bold"/>
                  <a:ea typeface="TT Fors Bold"/>
                  <a:cs typeface="TT Fors Bold"/>
                  <a:sym typeface="TT Fors Bold"/>
                </a:rPr>
                <a:t>l</a:t>
              </a:r>
              <a:r>
                <a:rPr lang="en-US" b="true" sz="3199" spc="-95" strike="noStrike" u="none">
                  <a:solidFill>
                    <a:srgbClr val="DBEFFF"/>
                  </a:solidFill>
                  <a:latin typeface="TT Fors Bold"/>
                  <a:ea typeface="TT Fors Bold"/>
                  <a:cs typeface="TT Fors Bold"/>
                  <a:sym typeface="TT Fors Bold"/>
                </a:rPr>
                <a:t>e app </a:t>
              </a:r>
              <a:r>
                <a:rPr lang="en-US" b="true" sz="3199" spc="-95" strike="noStrike" u="none">
                  <a:solidFill>
                    <a:srgbClr val="DBEFFF"/>
                  </a:solidFill>
                  <a:latin typeface="TT Fors Bold"/>
                  <a:ea typeface="TT Fors Bold"/>
                  <a:cs typeface="TT Fors Bold"/>
                  <a:sym typeface="TT Fors Bold"/>
                </a:rPr>
                <a:t>u</a:t>
              </a:r>
              <a:r>
                <a:rPr lang="en-US" b="true" sz="3199" spc="-95" strike="noStrike" u="none">
                  <a:solidFill>
                    <a:srgbClr val="DBEFFF"/>
                  </a:solidFill>
                  <a:latin typeface="TT Fors Bold"/>
                  <a:ea typeface="TT Fors Bold"/>
                  <a:cs typeface="TT Fors Bold"/>
                  <a:sym typeface="TT Fors Bold"/>
                </a:rPr>
                <a:t>s</a:t>
              </a:r>
              <a:r>
                <a:rPr lang="en-US" b="true" sz="3199" spc="-95" strike="noStrike" u="none">
                  <a:solidFill>
                    <a:srgbClr val="DBEFFF"/>
                  </a:solidFill>
                  <a:latin typeface="TT Fors Bold"/>
                  <a:ea typeface="TT Fors Bold"/>
                  <a:cs typeface="TT Fors Bold"/>
                  <a:sym typeface="TT Fors Bold"/>
                </a:rPr>
                <a:t>in</a:t>
              </a:r>
              <a:r>
                <a:rPr lang="en-US" b="true" sz="3199" spc="-95" strike="noStrike" u="none">
                  <a:solidFill>
                    <a:srgbClr val="DBEFFF"/>
                  </a:solidFill>
                  <a:latin typeface="TT Fors Bold"/>
                  <a:ea typeface="TT Fors Bold"/>
                  <a:cs typeface="TT Fors Bold"/>
                  <a:sym typeface="TT Fors Bold"/>
                </a:rPr>
                <a:t>g Fireba</a:t>
              </a:r>
              <a:r>
                <a:rPr lang="en-US" b="true" sz="3199" spc="-95" strike="noStrike" u="none">
                  <a:solidFill>
                    <a:srgbClr val="DBEFFF"/>
                  </a:solidFill>
                  <a:latin typeface="TT Fors Bold"/>
                  <a:ea typeface="TT Fors Bold"/>
                  <a:cs typeface="TT Fors Bold"/>
                  <a:sym typeface="TT Fors Bold"/>
                </a:rPr>
                <a:t>s</a:t>
              </a:r>
              <a:r>
                <a:rPr lang="en-US" b="true" sz="3199" spc="-95" strike="noStrike" u="none">
                  <a:solidFill>
                    <a:srgbClr val="DBEFFF"/>
                  </a:solidFill>
                  <a:latin typeface="TT Fors Bold"/>
                  <a:ea typeface="TT Fors Bold"/>
                  <a:cs typeface="TT Fors Bold"/>
                  <a:sym typeface="TT Fors Bold"/>
                </a:rPr>
                <a:t>e</a:t>
              </a:r>
            </a:p>
            <a:p>
              <a:pPr algn="l" marL="0" indent="0" lvl="0">
                <a:lnSpc>
                  <a:spcPts val="3839"/>
                </a:lnSpc>
                <a:spcBef>
                  <a:spcPct val="0"/>
                </a:spcBef>
              </a:pPr>
            </a:p>
          </p:txBody>
        </p:sp>
      </p:grpSp>
      <p:grpSp>
        <p:nvGrpSpPr>
          <p:cNvPr name="Group 5" id="5"/>
          <p:cNvGrpSpPr/>
          <p:nvPr/>
        </p:nvGrpSpPr>
        <p:grpSpPr>
          <a:xfrm rot="0">
            <a:off x="14744700" y="7829550"/>
            <a:ext cx="4846643" cy="1791955"/>
            <a:chOff x="0" y="0"/>
            <a:chExt cx="6462190" cy="2389273"/>
          </a:xfrm>
        </p:grpSpPr>
        <p:sp>
          <p:nvSpPr>
            <p:cNvPr name="Freeform 6" id="6"/>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4.xml><?xml version="1.0" encoding="utf-8"?>
<p:sld xmlns:p="http://schemas.openxmlformats.org/presentationml/2006/main" xmlns:a="http://schemas.openxmlformats.org/drawingml/2006/main">
  <p:cSld>
    <p:bg>
      <p:bgPr>
        <a:solidFill>
          <a:srgbClr val="1A8DCA"/>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5516225" cy="1222376"/>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FFFFFF"/>
                </a:solidFill>
                <a:latin typeface="ITC Avant Garde Gothic"/>
                <a:ea typeface="ITC Avant Garde Gothic"/>
                <a:cs typeface="ITC Avant Garde Gothic"/>
                <a:sym typeface="ITC Avant Garde Gothic"/>
              </a:rPr>
              <a:t>Key Features</a:t>
            </a:r>
          </a:p>
        </p:txBody>
      </p:sp>
      <p:grpSp>
        <p:nvGrpSpPr>
          <p:cNvPr name="Group 3" id="3"/>
          <p:cNvGrpSpPr/>
          <p:nvPr/>
        </p:nvGrpSpPr>
        <p:grpSpPr>
          <a:xfrm rot="0">
            <a:off x="666750" y="7829550"/>
            <a:ext cx="6886575" cy="1790753"/>
            <a:chOff x="0" y="0"/>
            <a:chExt cx="9182100" cy="2387671"/>
          </a:xfrm>
        </p:grpSpPr>
        <p:sp>
          <p:nvSpPr>
            <p:cNvPr name="TextBox 4" id="4"/>
            <p:cNvSpPr txBox="true"/>
            <p:nvPr/>
          </p:nvSpPr>
          <p:spPr>
            <a:xfrm rot="0">
              <a:off x="0" y="934791"/>
              <a:ext cx="9182100" cy="1452880"/>
            </a:xfrm>
            <a:prstGeom prst="rect">
              <a:avLst/>
            </a:prstGeom>
          </p:spPr>
          <p:txBody>
            <a:bodyPr anchor="t" rtlCol="false" tIns="0" lIns="0" bIns="0" rIns="0">
              <a:spAutoFit/>
            </a:bodyPr>
            <a:lstStyle/>
            <a:p>
              <a:pPr algn="l" marL="0" indent="0" lvl="0">
                <a:lnSpc>
                  <a:spcPts val="2940"/>
                </a:lnSpc>
              </a:pPr>
              <a:r>
                <a:rPr lang="en-US" sz="2100">
                  <a:solidFill>
                    <a:srgbClr val="DBEFFF"/>
                  </a:solidFill>
                  <a:latin typeface="TT Fors"/>
                  <a:ea typeface="TT Fors"/>
                  <a:cs typeface="TT Fors"/>
                  <a:sym typeface="TT Fors"/>
                </a:rPr>
                <a:t>It measures light intensity across different wavelength bands, allowing users to </a:t>
              </a:r>
              <a:r>
                <a:rPr lang="en-US" b="true" sz="2100">
                  <a:solidFill>
                    <a:srgbClr val="DBEFFF"/>
                  </a:solidFill>
                  <a:latin typeface="TT Fors Bold"/>
                  <a:ea typeface="TT Fors Bold"/>
                  <a:cs typeface="TT Fors Bold"/>
                  <a:sym typeface="TT Fors Bold"/>
                </a:rPr>
                <a:t>optimize lighting</a:t>
              </a:r>
              <a:r>
                <a:rPr lang="en-US" sz="2100">
                  <a:solidFill>
                    <a:srgbClr val="DBEFFF"/>
                  </a:solidFill>
                  <a:latin typeface="TT Fors"/>
                  <a:ea typeface="TT Fors"/>
                  <a:cs typeface="TT Fors"/>
                  <a:sym typeface="TT Fors"/>
                </a:rPr>
                <a:t> for health and productivity.</a:t>
              </a:r>
            </a:p>
          </p:txBody>
        </p:sp>
        <p:sp>
          <p:nvSpPr>
            <p:cNvPr name="TextBox 5" id="5"/>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C6E2FF"/>
                  </a:solidFill>
                  <a:latin typeface="ITC Avant Garde Gothic"/>
                  <a:ea typeface="ITC Avant Garde Gothic"/>
                  <a:cs typeface="ITC Avant Garde Gothic"/>
                  <a:sym typeface="ITC Avant Garde Gothic"/>
                </a:rPr>
                <a:t>Light Intensity Monitoring</a:t>
              </a:r>
            </a:p>
          </p:txBody>
        </p:sp>
      </p:grpSp>
      <p:grpSp>
        <p:nvGrpSpPr>
          <p:cNvPr name="Group 6" id="6"/>
          <p:cNvGrpSpPr/>
          <p:nvPr/>
        </p:nvGrpSpPr>
        <p:grpSpPr>
          <a:xfrm rot="0">
            <a:off x="666750" y="5143500"/>
            <a:ext cx="6886575" cy="1790753"/>
            <a:chOff x="0" y="0"/>
            <a:chExt cx="9182100" cy="2387671"/>
          </a:xfrm>
        </p:grpSpPr>
        <p:sp>
          <p:nvSpPr>
            <p:cNvPr name="TextBox 7" id="7"/>
            <p:cNvSpPr txBox="true"/>
            <p:nvPr/>
          </p:nvSpPr>
          <p:spPr>
            <a:xfrm rot="0">
              <a:off x="0" y="934791"/>
              <a:ext cx="9182100" cy="1452880"/>
            </a:xfrm>
            <a:prstGeom prst="rect">
              <a:avLst/>
            </a:prstGeom>
          </p:spPr>
          <p:txBody>
            <a:bodyPr anchor="t" rtlCol="false" tIns="0" lIns="0" bIns="0" rIns="0">
              <a:spAutoFit/>
            </a:bodyPr>
            <a:lstStyle/>
            <a:p>
              <a:pPr algn="l" marL="0" indent="0" lvl="0">
                <a:lnSpc>
                  <a:spcPts val="2940"/>
                </a:lnSpc>
              </a:pPr>
              <a:r>
                <a:rPr lang="en-US" sz="2100">
                  <a:solidFill>
                    <a:srgbClr val="DBEFFF"/>
                  </a:solidFill>
                  <a:latin typeface="TT Fors"/>
                  <a:ea typeface="TT Fors"/>
                  <a:cs typeface="TT Fors"/>
                  <a:sym typeface="TT Fors"/>
                </a:rPr>
                <a:t>Utilizing infrared technology, the app detects user presence for efficient energy management, ensuring </a:t>
              </a:r>
              <a:r>
                <a:rPr lang="en-US" b="true" sz="2100">
                  <a:solidFill>
                    <a:srgbClr val="DBEFFF"/>
                  </a:solidFill>
                  <a:latin typeface="TT Fors Bold"/>
                  <a:ea typeface="TT Fors Bold"/>
                  <a:cs typeface="TT Fors Bold"/>
                  <a:sym typeface="TT Fors Bold"/>
                </a:rPr>
                <a:t>unoccupied spaces remain energy-efficient</a:t>
              </a:r>
              <a:r>
                <a:rPr lang="en-US" sz="2100">
                  <a:solidFill>
                    <a:srgbClr val="DBEFFF"/>
                  </a:solidFill>
                  <a:latin typeface="TT Fors"/>
                  <a:ea typeface="TT Fors"/>
                  <a:cs typeface="TT Fors"/>
                  <a:sym typeface="TT Fors"/>
                </a:rPr>
                <a:t>.</a:t>
              </a:r>
            </a:p>
          </p:txBody>
        </p:sp>
        <p:sp>
          <p:nvSpPr>
            <p:cNvPr name="TextBox 8" id="8"/>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C6E2FF"/>
                  </a:solidFill>
                  <a:latin typeface="ITC Avant Garde Gothic"/>
                  <a:ea typeface="ITC Avant Garde Gothic"/>
                  <a:cs typeface="ITC Avant Garde Gothic"/>
                  <a:sym typeface="ITC Avant Garde Gothic"/>
                </a:rPr>
                <a:t>Smart Detection</a:t>
              </a:r>
            </a:p>
          </p:txBody>
        </p:sp>
      </p:grpSp>
      <p:grpSp>
        <p:nvGrpSpPr>
          <p:cNvPr name="Group 9" id="9"/>
          <p:cNvGrpSpPr/>
          <p:nvPr/>
        </p:nvGrpSpPr>
        <p:grpSpPr>
          <a:xfrm rot="0">
            <a:off x="666750" y="2457450"/>
            <a:ext cx="6886575" cy="1790753"/>
            <a:chOff x="0" y="0"/>
            <a:chExt cx="9182100" cy="2387671"/>
          </a:xfrm>
        </p:grpSpPr>
        <p:sp>
          <p:nvSpPr>
            <p:cNvPr name="TextBox 10" id="10"/>
            <p:cNvSpPr txBox="true"/>
            <p:nvPr/>
          </p:nvSpPr>
          <p:spPr>
            <a:xfrm rot="0">
              <a:off x="0" y="934791"/>
              <a:ext cx="9182100" cy="1452880"/>
            </a:xfrm>
            <a:prstGeom prst="rect">
              <a:avLst/>
            </a:prstGeom>
          </p:spPr>
          <p:txBody>
            <a:bodyPr anchor="t" rtlCol="false" tIns="0" lIns="0" bIns="0" rIns="0">
              <a:spAutoFit/>
            </a:bodyPr>
            <a:lstStyle/>
            <a:p>
              <a:pPr algn="l" marL="0" indent="0" lvl="0">
                <a:lnSpc>
                  <a:spcPts val="2940"/>
                </a:lnSpc>
              </a:pPr>
              <a:r>
                <a:rPr lang="en-US" sz="2100">
                  <a:solidFill>
                    <a:srgbClr val="DBEFFF"/>
                  </a:solidFill>
                  <a:latin typeface="TT Fors"/>
                  <a:ea typeface="TT Fors"/>
                  <a:cs typeface="TT Fors"/>
                  <a:sym typeface="TT Fors"/>
                </a:rPr>
                <a:t>The app continuously tracks air quality metrics, providing </a:t>
              </a:r>
              <a:r>
                <a:rPr lang="en-US" b="true" sz="2100">
                  <a:solidFill>
                    <a:srgbClr val="DBEFFF"/>
                  </a:solidFill>
                  <a:latin typeface="TT Fors Bold"/>
                  <a:ea typeface="TT Fors Bold"/>
                  <a:cs typeface="TT Fors Bold"/>
                  <a:sym typeface="TT Fors Bold"/>
                </a:rPr>
                <a:t>up-to-date information</a:t>
              </a:r>
              <a:r>
                <a:rPr lang="en-US" sz="2100">
                  <a:solidFill>
                    <a:srgbClr val="DBEFFF"/>
                  </a:solidFill>
                  <a:latin typeface="TT Fors"/>
                  <a:ea typeface="TT Fors"/>
                  <a:cs typeface="TT Fors"/>
                  <a:sym typeface="TT Fors"/>
                </a:rPr>
                <a:t> on CO₂, TVOCs, and humidity levels indoors.</a:t>
              </a:r>
            </a:p>
          </p:txBody>
        </p:sp>
        <p:sp>
          <p:nvSpPr>
            <p:cNvPr name="TextBox 11" id="11"/>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C6E2FF"/>
                  </a:solidFill>
                  <a:latin typeface="ITC Avant Garde Gothic"/>
                  <a:ea typeface="ITC Avant Garde Gothic"/>
                  <a:cs typeface="ITC Avant Garde Gothic"/>
                  <a:sym typeface="ITC Avant Garde Gothic"/>
                </a:rPr>
                <a:t>Real-Time Monitoring</a:t>
              </a:r>
            </a:p>
          </p:txBody>
        </p:sp>
      </p:grpSp>
      <p:grpSp>
        <p:nvGrpSpPr>
          <p:cNvPr name="Group 12" id="12"/>
          <p:cNvGrpSpPr/>
          <p:nvPr/>
        </p:nvGrpSpPr>
        <p:grpSpPr>
          <a:xfrm rot="0">
            <a:off x="9296400" y="7829550"/>
            <a:ext cx="6886575" cy="1790753"/>
            <a:chOff x="0" y="0"/>
            <a:chExt cx="9182100" cy="2387671"/>
          </a:xfrm>
        </p:grpSpPr>
        <p:sp>
          <p:nvSpPr>
            <p:cNvPr name="TextBox 13" id="13"/>
            <p:cNvSpPr txBox="true"/>
            <p:nvPr/>
          </p:nvSpPr>
          <p:spPr>
            <a:xfrm rot="0">
              <a:off x="0" y="934791"/>
              <a:ext cx="9182100" cy="1452880"/>
            </a:xfrm>
            <a:prstGeom prst="rect">
              <a:avLst/>
            </a:prstGeom>
          </p:spPr>
          <p:txBody>
            <a:bodyPr anchor="t" rtlCol="false" tIns="0" lIns="0" bIns="0" rIns="0">
              <a:spAutoFit/>
            </a:bodyPr>
            <a:lstStyle/>
            <a:p>
              <a:pPr algn="l" marL="0" indent="0" lvl="0">
                <a:lnSpc>
                  <a:spcPts val="2940"/>
                </a:lnSpc>
              </a:pPr>
              <a:r>
                <a:rPr lang="en-US" sz="2100">
                  <a:solidFill>
                    <a:srgbClr val="DBEFFF"/>
                  </a:solidFill>
                  <a:latin typeface="TT Fors"/>
                  <a:ea typeface="TT Fors"/>
                  <a:cs typeface="TT Fors"/>
                  <a:sym typeface="TT Fors"/>
                </a:rPr>
                <a:t>The app is designed with an intuitive interface, enabling users of all tech levels to </a:t>
              </a:r>
              <a:r>
                <a:rPr lang="en-US" b="true" sz="2100">
                  <a:solidFill>
                    <a:srgbClr val="DBEFFF"/>
                  </a:solidFill>
                  <a:latin typeface="TT Fors Bold"/>
                  <a:ea typeface="TT Fors Bold"/>
                  <a:cs typeface="TT Fors Bold"/>
                  <a:sym typeface="TT Fors Bold"/>
                </a:rPr>
                <a:t>navigate easily</a:t>
              </a:r>
              <a:r>
                <a:rPr lang="en-US" sz="2100">
                  <a:solidFill>
                    <a:srgbClr val="DBEFFF"/>
                  </a:solidFill>
                  <a:latin typeface="TT Fors"/>
                  <a:ea typeface="TT Fors"/>
                  <a:cs typeface="TT Fors"/>
                  <a:sym typeface="TT Fors"/>
                </a:rPr>
                <a:t> and access critical features.</a:t>
              </a:r>
            </a:p>
          </p:txBody>
        </p:sp>
        <p:sp>
          <p:nvSpPr>
            <p:cNvPr name="TextBox 14" id="14"/>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C6E2FF"/>
                  </a:solidFill>
                  <a:latin typeface="ITC Avant Garde Gothic"/>
                  <a:ea typeface="ITC Avant Garde Gothic"/>
                  <a:cs typeface="ITC Avant Garde Gothic"/>
                  <a:sym typeface="ITC Avant Garde Gothic"/>
                </a:rPr>
                <a:t>User-Friendly Interface</a:t>
              </a:r>
            </a:p>
          </p:txBody>
        </p:sp>
      </p:grpSp>
      <p:grpSp>
        <p:nvGrpSpPr>
          <p:cNvPr name="Group 15" id="15"/>
          <p:cNvGrpSpPr/>
          <p:nvPr/>
        </p:nvGrpSpPr>
        <p:grpSpPr>
          <a:xfrm rot="0">
            <a:off x="9296400" y="5143500"/>
            <a:ext cx="6886575" cy="2162228"/>
            <a:chOff x="0" y="0"/>
            <a:chExt cx="9182100" cy="2882971"/>
          </a:xfrm>
        </p:grpSpPr>
        <p:sp>
          <p:nvSpPr>
            <p:cNvPr name="TextBox 16" id="16"/>
            <p:cNvSpPr txBox="true"/>
            <p:nvPr/>
          </p:nvSpPr>
          <p:spPr>
            <a:xfrm rot="0">
              <a:off x="0" y="934791"/>
              <a:ext cx="9182100" cy="1948180"/>
            </a:xfrm>
            <a:prstGeom prst="rect">
              <a:avLst/>
            </a:prstGeom>
          </p:spPr>
          <p:txBody>
            <a:bodyPr anchor="t" rtlCol="false" tIns="0" lIns="0" bIns="0" rIns="0">
              <a:spAutoFit/>
            </a:bodyPr>
            <a:lstStyle/>
            <a:p>
              <a:pPr algn="l" marL="0" indent="0" lvl="0">
                <a:lnSpc>
                  <a:spcPts val="2940"/>
                </a:lnSpc>
              </a:pPr>
              <a:r>
                <a:rPr lang="en-US" sz="2100">
                  <a:solidFill>
                    <a:srgbClr val="DBEFFF"/>
                  </a:solidFill>
                  <a:latin typeface="TT Fors"/>
                  <a:ea typeface="TT Fors"/>
                  <a:cs typeface="TT Fors"/>
                  <a:sym typeface="TT Fors"/>
                </a:rPr>
                <a:t>The app features a unique surveillance function that monitors for unauthorized presence, enhancing </a:t>
              </a:r>
              <a:r>
                <a:rPr lang="en-US" b="true" sz="2100">
                  <a:solidFill>
                    <a:srgbClr val="DBEFFF"/>
                  </a:solidFill>
                  <a:latin typeface="TT Fors Bold"/>
                  <a:ea typeface="TT Fors Bold"/>
                  <a:cs typeface="TT Fors Bold"/>
                  <a:sym typeface="TT Fors Bold"/>
                </a:rPr>
                <a:t>security during off-hours</a:t>
              </a:r>
              <a:r>
                <a:rPr lang="en-US" sz="2100">
                  <a:solidFill>
                    <a:srgbClr val="DBEFFF"/>
                  </a:solidFill>
                  <a:latin typeface="TT Fors"/>
                  <a:ea typeface="TT Fors"/>
                  <a:cs typeface="TT Fors"/>
                  <a:sym typeface="TT Fors"/>
                </a:rPr>
                <a:t> across the monitored environments.</a:t>
              </a:r>
            </a:p>
          </p:txBody>
        </p:sp>
        <p:sp>
          <p:nvSpPr>
            <p:cNvPr name="TextBox 17" id="17"/>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C6E2FF"/>
                  </a:solidFill>
                  <a:latin typeface="ITC Avant Garde Gothic"/>
                  <a:ea typeface="ITC Avant Garde Gothic"/>
                  <a:cs typeface="ITC Avant Garde Gothic"/>
                  <a:sym typeface="ITC Avant Garde Gothic"/>
                </a:rPr>
                <a:t>After-Hours Surveillance</a:t>
              </a:r>
            </a:p>
          </p:txBody>
        </p:sp>
      </p:grpSp>
      <p:grpSp>
        <p:nvGrpSpPr>
          <p:cNvPr name="Group 18" id="18"/>
          <p:cNvGrpSpPr/>
          <p:nvPr/>
        </p:nvGrpSpPr>
        <p:grpSpPr>
          <a:xfrm rot="0">
            <a:off x="9296400" y="2457450"/>
            <a:ext cx="6886575" cy="1790753"/>
            <a:chOff x="0" y="0"/>
            <a:chExt cx="9182100" cy="2387671"/>
          </a:xfrm>
        </p:grpSpPr>
        <p:sp>
          <p:nvSpPr>
            <p:cNvPr name="TextBox 19" id="19"/>
            <p:cNvSpPr txBox="true"/>
            <p:nvPr/>
          </p:nvSpPr>
          <p:spPr>
            <a:xfrm rot="0">
              <a:off x="0" y="934791"/>
              <a:ext cx="9182100" cy="1452880"/>
            </a:xfrm>
            <a:prstGeom prst="rect">
              <a:avLst/>
            </a:prstGeom>
          </p:spPr>
          <p:txBody>
            <a:bodyPr anchor="t" rtlCol="false" tIns="0" lIns="0" bIns="0" rIns="0">
              <a:spAutoFit/>
            </a:bodyPr>
            <a:lstStyle/>
            <a:p>
              <a:pPr algn="l" marL="0" indent="0" lvl="0">
                <a:lnSpc>
                  <a:spcPts val="2940"/>
                </a:lnSpc>
              </a:pPr>
              <a:r>
                <a:rPr lang="en-US" sz="2100">
                  <a:solidFill>
                    <a:srgbClr val="DBEFFF"/>
                  </a:solidFill>
                  <a:latin typeface="TT Fors"/>
                  <a:ea typeface="TT Fors"/>
                  <a:cs typeface="TT Fors"/>
                  <a:sym typeface="TT Fors"/>
                </a:rPr>
                <a:t>Users receive alerts for unsafe conditions, enabling </a:t>
              </a:r>
              <a:r>
                <a:rPr lang="en-US" b="true" sz="2100">
                  <a:solidFill>
                    <a:srgbClr val="DBEFFF"/>
                  </a:solidFill>
                  <a:latin typeface="TT Fors Bold"/>
                  <a:ea typeface="TT Fors Bold"/>
                  <a:cs typeface="TT Fors Bold"/>
                  <a:sym typeface="TT Fors Bold"/>
                </a:rPr>
                <a:t>automatic adjustments</a:t>
              </a:r>
              <a:r>
                <a:rPr lang="en-US" sz="2100">
                  <a:solidFill>
                    <a:srgbClr val="DBEFFF"/>
                  </a:solidFill>
                  <a:latin typeface="TT Fors"/>
                  <a:ea typeface="TT Fors"/>
                  <a:cs typeface="TT Fors"/>
                  <a:sym typeface="TT Fors"/>
                </a:rPr>
                <a:t> to maintain optimal comfort and safety levels within their spaces.</a:t>
              </a:r>
            </a:p>
          </p:txBody>
        </p:sp>
        <p:sp>
          <p:nvSpPr>
            <p:cNvPr name="TextBox 20" id="20"/>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C6E2FF"/>
                  </a:solidFill>
                  <a:latin typeface="ITC Avant Garde Gothic"/>
                  <a:ea typeface="ITC Avant Garde Gothic"/>
                  <a:cs typeface="ITC Avant Garde Gothic"/>
                  <a:sym typeface="ITC Avant Garde Gothic"/>
                </a:rPr>
                <a:t>Automated Controls</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A8DCA"/>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6886575" cy="3543300"/>
            <a:chOff x="0" y="0"/>
            <a:chExt cx="9182100" cy="4724400"/>
          </a:xfrm>
        </p:grpSpPr>
        <p:sp>
          <p:nvSpPr>
            <p:cNvPr name="TextBox 3" id="3"/>
            <p:cNvSpPr txBox="true"/>
            <p:nvPr/>
          </p:nvSpPr>
          <p:spPr>
            <a:xfrm rot="0">
              <a:off x="0" y="-9525"/>
              <a:ext cx="9182100" cy="29728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FFFFFF"/>
                  </a:solidFill>
                  <a:latin typeface="ITC Avant Garde Gothic"/>
                  <a:ea typeface="ITC Avant Garde Gothic"/>
                  <a:cs typeface="ITC Avant Garde Gothic"/>
                  <a:sym typeface="ITC Avant Garde Gothic"/>
                </a:rPr>
                <a:t>Competitive Advantage</a:t>
              </a:r>
            </a:p>
          </p:txBody>
        </p:sp>
        <p:sp>
          <p:nvSpPr>
            <p:cNvPr name="TextBox 4" id="4"/>
            <p:cNvSpPr txBox="true"/>
            <p:nvPr/>
          </p:nvSpPr>
          <p:spPr>
            <a:xfrm rot="0">
              <a:off x="0" y="3362325"/>
              <a:ext cx="9182100" cy="1362075"/>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C6E2FF"/>
                  </a:solidFill>
                  <a:latin typeface="ITC Avant Garde Gothic"/>
                  <a:ea typeface="ITC Avant Garde Gothic"/>
                  <a:cs typeface="ITC Avant Garde Gothic"/>
                  <a:sym typeface="ITC Avant Garde Gothic"/>
                </a:rPr>
                <a:t>Standout features that elevate the user experience</a:t>
              </a:r>
            </a:p>
          </p:txBody>
        </p:sp>
      </p:grpSp>
      <p:grpSp>
        <p:nvGrpSpPr>
          <p:cNvPr name="Group 5" id="5"/>
          <p:cNvGrpSpPr/>
          <p:nvPr/>
        </p:nvGrpSpPr>
        <p:grpSpPr>
          <a:xfrm rot="0">
            <a:off x="9296400" y="1562100"/>
            <a:ext cx="6886575" cy="1956435"/>
            <a:chOff x="0" y="0"/>
            <a:chExt cx="9182100" cy="2608580"/>
          </a:xfrm>
        </p:grpSpPr>
        <p:sp>
          <p:nvSpPr>
            <p:cNvPr name="TextBox 6" id="6"/>
            <p:cNvSpPr txBox="true"/>
            <p:nvPr/>
          </p:nvSpPr>
          <p:spPr>
            <a:xfrm rot="0">
              <a:off x="0" y="1155700"/>
              <a:ext cx="9182100" cy="1452880"/>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DBEFFF"/>
                  </a:solidFill>
                  <a:latin typeface="TT Fors"/>
                  <a:ea typeface="TT Fors"/>
                  <a:cs typeface="TT Fors"/>
                  <a:sym typeface="TT Fors"/>
                </a:rPr>
                <a:t>Our app uniquely combines air quality, light, and presence detection, providing users with a holistic view of their indoor environment.</a:t>
              </a:r>
            </a:p>
          </p:txBody>
        </p:sp>
        <p:sp>
          <p:nvSpPr>
            <p:cNvPr name="TextBox 7" id="7"/>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DBEFFF"/>
                  </a:solidFill>
                  <a:latin typeface="ITC Avant Garde Gothic"/>
                  <a:ea typeface="ITC Avant Garde Gothic"/>
                  <a:cs typeface="ITC Avant Garde Gothic"/>
                  <a:sym typeface="ITC Avant Garde Gothic"/>
                </a:rPr>
                <a:t>Comprehensive Monitoring</a:t>
              </a:r>
            </a:p>
          </p:txBody>
        </p:sp>
      </p:grpSp>
      <p:grpSp>
        <p:nvGrpSpPr>
          <p:cNvPr name="Group 8" id="8"/>
          <p:cNvGrpSpPr/>
          <p:nvPr/>
        </p:nvGrpSpPr>
        <p:grpSpPr>
          <a:xfrm rot="0">
            <a:off x="9296400" y="4248150"/>
            <a:ext cx="6886575" cy="1956435"/>
            <a:chOff x="0" y="0"/>
            <a:chExt cx="9182100" cy="2608580"/>
          </a:xfrm>
        </p:grpSpPr>
        <p:sp>
          <p:nvSpPr>
            <p:cNvPr name="TextBox 9" id="9"/>
            <p:cNvSpPr txBox="true"/>
            <p:nvPr/>
          </p:nvSpPr>
          <p:spPr>
            <a:xfrm rot="0">
              <a:off x="0" y="1155700"/>
              <a:ext cx="9182100" cy="1452880"/>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DBEFFF"/>
                  </a:solidFill>
                  <a:latin typeface="TT Fors"/>
                  <a:ea typeface="TT Fors"/>
                  <a:cs typeface="TT Fors"/>
                  <a:sym typeface="TT Fors"/>
                </a:rPr>
                <a:t>The interface is designed for simplicity, ensuring users can easily navigate and utilize features without any technical knowledge.</a:t>
              </a:r>
            </a:p>
          </p:txBody>
        </p:sp>
        <p:sp>
          <p:nvSpPr>
            <p:cNvPr name="TextBox 10" id="10"/>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DBEFFF"/>
                  </a:solidFill>
                  <a:latin typeface="ITC Avant Garde Gothic"/>
                  <a:ea typeface="ITC Avant Garde Gothic"/>
                  <a:cs typeface="ITC Avant Garde Gothic"/>
                  <a:sym typeface="ITC Avant Garde Gothic"/>
                </a:rPr>
                <a:t>User-Friendly Design</a:t>
              </a:r>
            </a:p>
          </p:txBody>
        </p:sp>
      </p:grpSp>
      <p:grpSp>
        <p:nvGrpSpPr>
          <p:cNvPr name="Group 11" id="11"/>
          <p:cNvGrpSpPr/>
          <p:nvPr/>
        </p:nvGrpSpPr>
        <p:grpSpPr>
          <a:xfrm rot="0">
            <a:off x="9296400" y="6938010"/>
            <a:ext cx="6886575" cy="1956435"/>
            <a:chOff x="0" y="0"/>
            <a:chExt cx="9182100" cy="2608580"/>
          </a:xfrm>
        </p:grpSpPr>
        <p:sp>
          <p:nvSpPr>
            <p:cNvPr name="TextBox 12" id="12"/>
            <p:cNvSpPr txBox="true"/>
            <p:nvPr/>
          </p:nvSpPr>
          <p:spPr>
            <a:xfrm rot="0">
              <a:off x="0" y="1155700"/>
              <a:ext cx="9182100" cy="1452880"/>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DBEFFF"/>
                  </a:solidFill>
                  <a:latin typeface="TT Fors"/>
                  <a:ea typeface="TT Fors"/>
                  <a:cs typeface="TT Fors"/>
                  <a:sym typeface="TT Fors"/>
                </a:rPr>
                <a:t>The after-hours surveillance capability distinguishes our app, offering peace of mind by detecting unauthorized presence when users are away.</a:t>
              </a:r>
            </a:p>
          </p:txBody>
        </p:sp>
        <p:sp>
          <p:nvSpPr>
            <p:cNvPr name="TextBox 13" id="13"/>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DBEFFF"/>
                  </a:solidFill>
                  <a:latin typeface="ITC Avant Garde Gothic"/>
                  <a:ea typeface="ITC Avant Garde Gothic"/>
                  <a:cs typeface="ITC Avant Garde Gothic"/>
                  <a:sym typeface="ITC Avant Garde Gothic"/>
                </a:rPr>
                <a:t>Enhanced Security</a:t>
              </a:r>
            </a:p>
          </p:txBody>
        </p:sp>
      </p:grpSp>
      <p:grpSp>
        <p:nvGrpSpPr>
          <p:cNvPr name="Group 14" id="14"/>
          <p:cNvGrpSpPr/>
          <p:nvPr/>
        </p:nvGrpSpPr>
        <p:grpSpPr>
          <a:xfrm rot="0">
            <a:off x="-1303343" y="7829550"/>
            <a:ext cx="4846643" cy="1791955"/>
            <a:chOff x="0" y="0"/>
            <a:chExt cx="6462190" cy="2389273"/>
          </a:xfrm>
        </p:grpSpPr>
        <p:sp>
          <p:nvSpPr>
            <p:cNvPr name="Freeform 15" id="15"/>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15430959" y="752281"/>
            <a:ext cx="2190291" cy="809819"/>
            <a:chOff x="0" y="0"/>
            <a:chExt cx="2920388" cy="1079758"/>
          </a:xfrm>
        </p:grpSpPr>
        <p:sp>
          <p:nvSpPr>
            <p:cNvPr name="Freeform 3" id="3"/>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6" id="6"/>
          <p:cNvSpPr/>
          <p:nvPr/>
        </p:nvSpPr>
        <p:spPr>
          <a:xfrm flipH="false" flipV="false" rot="0">
            <a:off x="1579594" y="1559235"/>
            <a:ext cx="3280091" cy="7168529"/>
          </a:xfrm>
          <a:custGeom>
            <a:avLst/>
            <a:gdLst/>
            <a:ahLst/>
            <a:cxnLst/>
            <a:rect r="r" b="b" t="t" l="l"/>
            <a:pathLst>
              <a:path h="7168529" w="3280091">
                <a:moveTo>
                  <a:pt x="0" y="0"/>
                </a:moveTo>
                <a:lnTo>
                  <a:pt x="3280092" y="0"/>
                </a:lnTo>
                <a:lnTo>
                  <a:pt x="3280092" y="7168530"/>
                </a:lnTo>
                <a:lnTo>
                  <a:pt x="0" y="7168530"/>
                </a:lnTo>
                <a:lnTo>
                  <a:pt x="0" y="0"/>
                </a:lnTo>
                <a:close/>
              </a:path>
            </a:pathLst>
          </a:custGeom>
          <a:blipFill>
            <a:blip r:embed="rId4"/>
            <a:stretch>
              <a:fillRect l="-8736" t="-4824" r="-11223" b="-3422"/>
            </a:stretch>
          </a:blipFill>
        </p:spPr>
      </p:sp>
      <p:sp>
        <p:nvSpPr>
          <p:cNvPr name="Freeform 7" id="7"/>
          <p:cNvSpPr/>
          <p:nvPr/>
        </p:nvSpPr>
        <p:spPr>
          <a:xfrm flipH="false" flipV="false" rot="0">
            <a:off x="7564786" y="1275041"/>
            <a:ext cx="3323475" cy="7179440"/>
          </a:xfrm>
          <a:custGeom>
            <a:avLst/>
            <a:gdLst/>
            <a:ahLst/>
            <a:cxnLst/>
            <a:rect r="r" b="b" t="t" l="l"/>
            <a:pathLst>
              <a:path h="7179440" w="3323475">
                <a:moveTo>
                  <a:pt x="0" y="0"/>
                </a:moveTo>
                <a:lnTo>
                  <a:pt x="3323475" y="0"/>
                </a:lnTo>
                <a:lnTo>
                  <a:pt x="3323475" y="7179440"/>
                </a:lnTo>
                <a:lnTo>
                  <a:pt x="0" y="7179440"/>
                </a:lnTo>
                <a:lnTo>
                  <a:pt x="0" y="0"/>
                </a:lnTo>
                <a:close/>
              </a:path>
            </a:pathLst>
          </a:custGeom>
          <a:blipFill>
            <a:blip r:embed="rId5"/>
            <a:stretch>
              <a:fillRect l="0" t="0" r="0" b="0"/>
            </a:stretch>
          </a:blipFill>
        </p:spPr>
      </p:sp>
      <p:sp>
        <p:nvSpPr>
          <p:cNvPr name="Freeform 8" id="8"/>
          <p:cNvSpPr/>
          <p:nvPr/>
        </p:nvSpPr>
        <p:spPr>
          <a:xfrm flipH="false" flipV="false" rot="0">
            <a:off x="13593361" y="1559235"/>
            <a:ext cx="3252964" cy="6895246"/>
          </a:xfrm>
          <a:custGeom>
            <a:avLst/>
            <a:gdLst/>
            <a:ahLst/>
            <a:cxnLst/>
            <a:rect r="r" b="b" t="t" l="l"/>
            <a:pathLst>
              <a:path h="6895246" w="3252964">
                <a:moveTo>
                  <a:pt x="0" y="0"/>
                </a:moveTo>
                <a:lnTo>
                  <a:pt x="3252964" y="0"/>
                </a:lnTo>
                <a:lnTo>
                  <a:pt x="3252964" y="6895246"/>
                </a:lnTo>
                <a:lnTo>
                  <a:pt x="0" y="6895246"/>
                </a:lnTo>
                <a:lnTo>
                  <a:pt x="0" y="0"/>
                </a:lnTo>
                <a:close/>
              </a:path>
            </a:pathLst>
          </a:custGeom>
          <a:blipFill>
            <a:blip r:embed="rId6"/>
            <a:stretch>
              <a:fillRect l="0" t="0" r="0" b="0"/>
            </a:stretch>
          </a:blipFill>
        </p:spPr>
      </p:sp>
      <p:sp>
        <p:nvSpPr>
          <p:cNvPr name="TextBox 9" id="9"/>
          <p:cNvSpPr txBox="true"/>
          <p:nvPr/>
        </p:nvSpPr>
        <p:spPr>
          <a:xfrm rot="0">
            <a:off x="525811" y="412750"/>
            <a:ext cx="14077950" cy="1222376"/>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FFFFFF"/>
                </a:solidFill>
                <a:latin typeface="ITC Avant Garde Gothic"/>
                <a:ea typeface="ITC Avant Garde Gothic"/>
                <a:cs typeface="ITC Avant Garde Gothic"/>
                <a:sym typeface="ITC Avant Garde Gothic"/>
              </a:rPr>
              <a:t>Screen Flow</a:t>
            </a:r>
          </a:p>
        </p:txBody>
      </p:sp>
      <p:sp>
        <p:nvSpPr>
          <p:cNvPr name="TextBox 10" id="10"/>
          <p:cNvSpPr txBox="true"/>
          <p:nvPr/>
        </p:nvSpPr>
        <p:spPr>
          <a:xfrm rot="0">
            <a:off x="525811" y="9258300"/>
            <a:ext cx="5350195" cy="963584"/>
          </a:xfrm>
          <a:prstGeom prst="rect">
            <a:avLst/>
          </a:prstGeom>
        </p:spPr>
        <p:txBody>
          <a:bodyPr anchor="t" rtlCol="false" tIns="0" lIns="0" bIns="0" rIns="0">
            <a:spAutoFit/>
          </a:bodyPr>
          <a:lstStyle/>
          <a:p>
            <a:pPr algn="ctr">
              <a:lnSpc>
                <a:spcPts val="6355"/>
              </a:lnSpc>
              <a:spcBef>
                <a:spcPct val="0"/>
              </a:spcBef>
            </a:pPr>
            <a:r>
              <a:rPr lang="en-US" sz="6355" spc="-190">
                <a:solidFill>
                  <a:srgbClr val="FFFFFF"/>
                </a:solidFill>
                <a:latin typeface="ITC Avant Garde Gothic"/>
                <a:ea typeface="ITC Avant Garde Gothic"/>
                <a:cs typeface="ITC Avant Garde Gothic"/>
                <a:sym typeface="ITC Avant Garde Gothic"/>
              </a:rPr>
              <a:t>Splash screen</a:t>
            </a:r>
          </a:p>
        </p:txBody>
      </p:sp>
      <p:sp>
        <p:nvSpPr>
          <p:cNvPr name="TextBox 11" id="11"/>
          <p:cNvSpPr txBox="true"/>
          <p:nvPr/>
        </p:nvSpPr>
        <p:spPr>
          <a:xfrm rot="0">
            <a:off x="6468902" y="9323416"/>
            <a:ext cx="5350195" cy="963584"/>
          </a:xfrm>
          <a:prstGeom prst="rect">
            <a:avLst/>
          </a:prstGeom>
        </p:spPr>
        <p:txBody>
          <a:bodyPr anchor="t" rtlCol="false" tIns="0" lIns="0" bIns="0" rIns="0">
            <a:spAutoFit/>
          </a:bodyPr>
          <a:lstStyle/>
          <a:p>
            <a:pPr algn="ctr">
              <a:lnSpc>
                <a:spcPts val="6355"/>
              </a:lnSpc>
              <a:spcBef>
                <a:spcPct val="0"/>
              </a:spcBef>
            </a:pPr>
            <a:r>
              <a:rPr lang="en-US" sz="6355" spc="-190">
                <a:solidFill>
                  <a:srgbClr val="FFFFFF"/>
                </a:solidFill>
                <a:latin typeface="ITC Avant Garde Gothic"/>
                <a:ea typeface="ITC Avant Garde Gothic"/>
                <a:cs typeface="ITC Avant Garde Gothic"/>
                <a:sym typeface="ITC Avant Garde Gothic"/>
              </a:rPr>
              <a:t>Login screen</a:t>
            </a:r>
          </a:p>
        </p:txBody>
      </p:sp>
      <p:sp>
        <p:nvSpPr>
          <p:cNvPr name="TextBox 12" id="12"/>
          <p:cNvSpPr txBox="true"/>
          <p:nvPr/>
        </p:nvSpPr>
        <p:spPr>
          <a:xfrm rot="0">
            <a:off x="13334721" y="8799221"/>
            <a:ext cx="3770243" cy="1487779"/>
          </a:xfrm>
          <a:prstGeom prst="rect">
            <a:avLst/>
          </a:prstGeom>
        </p:spPr>
        <p:txBody>
          <a:bodyPr anchor="t" rtlCol="false" tIns="0" lIns="0" bIns="0" rIns="0">
            <a:spAutoFit/>
          </a:bodyPr>
          <a:lstStyle/>
          <a:p>
            <a:pPr algn="ctr">
              <a:lnSpc>
                <a:spcPts val="5321"/>
              </a:lnSpc>
              <a:spcBef>
                <a:spcPct val="0"/>
              </a:spcBef>
            </a:pPr>
            <a:r>
              <a:rPr lang="en-US" sz="5321" spc="-159">
                <a:solidFill>
                  <a:srgbClr val="FFFFFF"/>
                </a:solidFill>
                <a:latin typeface="ITC Avant Garde Gothic"/>
                <a:ea typeface="ITC Avant Garde Gothic"/>
                <a:cs typeface="ITC Avant Garde Gothic"/>
                <a:sym typeface="ITC Avant Garde Gothic"/>
              </a:rPr>
              <a:t>Dashboard screen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A8DCA"/>
        </a:solidFill>
      </p:bgPr>
    </p:bg>
    <p:spTree>
      <p:nvGrpSpPr>
        <p:cNvPr id="1" name=""/>
        <p:cNvGrpSpPr/>
        <p:nvPr/>
      </p:nvGrpSpPr>
      <p:grpSpPr>
        <a:xfrm>
          <a:off x="0" y="0"/>
          <a:ext cx="0" cy="0"/>
          <a:chOff x="0" y="0"/>
          <a:chExt cx="0" cy="0"/>
        </a:xfrm>
      </p:grpSpPr>
      <p:grpSp>
        <p:nvGrpSpPr>
          <p:cNvPr name="Group 2" id="2"/>
          <p:cNvGrpSpPr/>
          <p:nvPr/>
        </p:nvGrpSpPr>
        <p:grpSpPr>
          <a:xfrm rot="0">
            <a:off x="15430959" y="752281"/>
            <a:ext cx="2190291" cy="809819"/>
            <a:chOff x="0" y="0"/>
            <a:chExt cx="2920388" cy="1079758"/>
          </a:xfrm>
        </p:grpSpPr>
        <p:sp>
          <p:nvSpPr>
            <p:cNvPr name="Freeform 3" id="3"/>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6" id="6"/>
          <p:cNvSpPr/>
          <p:nvPr/>
        </p:nvSpPr>
        <p:spPr>
          <a:xfrm flipH="false" flipV="false" rot="0">
            <a:off x="789649" y="3844261"/>
            <a:ext cx="2832837" cy="6004711"/>
          </a:xfrm>
          <a:custGeom>
            <a:avLst/>
            <a:gdLst/>
            <a:ahLst/>
            <a:cxnLst/>
            <a:rect r="r" b="b" t="t" l="l"/>
            <a:pathLst>
              <a:path h="6004711" w="2832837">
                <a:moveTo>
                  <a:pt x="0" y="0"/>
                </a:moveTo>
                <a:lnTo>
                  <a:pt x="2832838" y="0"/>
                </a:lnTo>
                <a:lnTo>
                  <a:pt x="2832838" y="6004710"/>
                </a:lnTo>
                <a:lnTo>
                  <a:pt x="0" y="6004710"/>
                </a:lnTo>
                <a:lnTo>
                  <a:pt x="0" y="0"/>
                </a:lnTo>
                <a:close/>
              </a:path>
            </a:pathLst>
          </a:custGeom>
          <a:blipFill>
            <a:blip r:embed="rId4"/>
            <a:stretch>
              <a:fillRect l="0" t="0" r="0" b="0"/>
            </a:stretch>
          </a:blipFill>
        </p:spPr>
      </p:sp>
      <p:sp>
        <p:nvSpPr>
          <p:cNvPr name="Freeform 7" id="7"/>
          <p:cNvSpPr/>
          <p:nvPr/>
        </p:nvSpPr>
        <p:spPr>
          <a:xfrm flipH="false" flipV="false" rot="0">
            <a:off x="5393581" y="3844261"/>
            <a:ext cx="2928631" cy="6395498"/>
          </a:xfrm>
          <a:custGeom>
            <a:avLst/>
            <a:gdLst/>
            <a:ahLst/>
            <a:cxnLst/>
            <a:rect r="r" b="b" t="t" l="l"/>
            <a:pathLst>
              <a:path h="6395498" w="2928631">
                <a:moveTo>
                  <a:pt x="0" y="0"/>
                </a:moveTo>
                <a:lnTo>
                  <a:pt x="2928631" y="0"/>
                </a:lnTo>
                <a:lnTo>
                  <a:pt x="2928631" y="6395497"/>
                </a:lnTo>
                <a:lnTo>
                  <a:pt x="0" y="6395497"/>
                </a:lnTo>
                <a:lnTo>
                  <a:pt x="0" y="0"/>
                </a:lnTo>
                <a:close/>
              </a:path>
            </a:pathLst>
          </a:custGeom>
          <a:blipFill>
            <a:blip r:embed="rId5"/>
            <a:stretch>
              <a:fillRect l="0" t="0" r="0" b="0"/>
            </a:stretch>
          </a:blipFill>
        </p:spPr>
      </p:sp>
      <p:sp>
        <p:nvSpPr>
          <p:cNvPr name="Freeform 8" id="8"/>
          <p:cNvSpPr/>
          <p:nvPr/>
        </p:nvSpPr>
        <p:spPr>
          <a:xfrm flipH="false" flipV="false" rot="0">
            <a:off x="9604669" y="3719293"/>
            <a:ext cx="2968990" cy="6339194"/>
          </a:xfrm>
          <a:custGeom>
            <a:avLst/>
            <a:gdLst/>
            <a:ahLst/>
            <a:cxnLst/>
            <a:rect r="r" b="b" t="t" l="l"/>
            <a:pathLst>
              <a:path h="6339194" w="2968990">
                <a:moveTo>
                  <a:pt x="0" y="0"/>
                </a:moveTo>
                <a:lnTo>
                  <a:pt x="2968990" y="0"/>
                </a:lnTo>
                <a:lnTo>
                  <a:pt x="2968990" y="6339194"/>
                </a:lnTo>
                <a:lnTo>
                  <a:pt x="0" y="6339194"/>
                </a:lnTo>
                <a:lnTo>
                  <a:pt x="0" y="0"/>
                </a:lnTo>
                <a:close/>
              </a:path>
            </a:pathLst>
          </a:custGeom>
          <a:blipFill>
            <a:blip r:embed="rId6"/>
            <a:stretch>
              <a:fillRect l="0" t="0" r="0" b="0"/>
            </a:stretch>
          </a:blipFill>
        </p:spPr>
      </p:sp>
      <p:sp>
        <p:nvSpPr>
          <p:cNvPr name="Freeform 9" id="9"/>
          <p:cNvSpPr/>
          <p:nvPr/>
        </p:nvSpPr>
        <p:spPr>
          <a:xfrm flipH="false" flipV="false" rot="0">
            <a:off x="14328410" y="3300954"/>
            <a:ext cx="2941703" cy="6365783"/>
          </a:xfrm>
          <a:custGeom>
            <a:avLst/>
            <a:gdLst/>
            <a:ahLst/>
            <a:cxnLst/>
            <a:rect r="r" b="b" t="t" l="l"/>
            <a:pathLst>
              <a:path h="6365783" w="2941703">
                <a:moveTo>
                  <a:pt x="0" y="0"/>
                </a:moveTo>
                <a:lnTo>
                  <a:pt x="2941703" y="0"/>
                </a:lnTo>
                <a:lnTo>
                  <a:pt x="2941703" y="6365783"/>
                </a:lnTo>
                <a:lnTo>
                  <a:pt x="0" y="6365783"/>
                </a:lnTo>
                <a:lnTo>
                  <a:pt x="0" y="0"/>
                </a:lnTo>
                <a:close/>
              </a:path>
            </a:pathLst>
          </a:custGeom>
          <a:blipFill>
            <a:blip r:embed="rId7"/>
            <a:stretch>
              <a:fillRect l="0" t="0" r="0" b="0"/>
            </a:stretch>
          </a:blipFill>
        </p:spPr>
      </p:sp>
      <p:grpSp>
        <p:nvGrpSpPr>
          <p:cNvPr name="Group 10" id="10"/>
          <p:cNvGrpSpPr/>
          <p:nvPr/>
        </p:nvGrpSpPr>
        <p:grpSpPr>
          <a:xfrm rot="0">
            <a:off x="470522" y="248411"/>
            <a:ext cx="12750230" cy="3392585"/>
            <a:chOff x="0" y="0"/>
            <a:chExt cx="17000307" cy="4523447"/>
          </a:xfrm>
        </p:grpSpPr>
        <p:sp>
          <p:nvSpPr>
            <p:cNvPr name="TextBox 11" id="11"/>
            <p:cNvSpPr txBox="true"/>
            <p:nvPr/>
          </p:nvSpPr>
          <p:spPr>
            <a:xfrm rot="0">
              <a:off x="0" y="-9525"/>
              <a:ext cx="17000307" cy="1474144"/>
            </a:xfrm>
            <a:prstGeom prst="rect">
              <a:avLst/>
            </a:prstGeom>
          </p:spPr>
          <p:txBody>
            <a:bodyPr anchor="t" rtlCol="false" tIns="0" lIns="0" bIns="0" rIns="0">
              <a:spAutoFit/>
            </a:bodyPr>
            <a:lstStyle/>
            <a:p>
              <a:pPr algn="l" marL="0" indent="0" lvl="0">
                <a:lnSpc>
                  <a:spcPts val="7245"/>
                </a:lnSpc>
                <a:spcBef>
                  <a:spcPct val="0"/>
                </a:spcBef>
              </a:pPr>
              <a:r>
                <a:rPr lang="en-US" sz="7245" spc="-217" strike="noStrike" u="none">
                  <a:solidFill>
                    <a:srgbClr val="FFFFFF"/>
                  </a:solidFill>
                  <a:latin typeface="ITC Avant Garde Gothic"/>
                  <a:ea typeface="ITC Avant Garde Gothic"/>
                  <a:cs typeface="ITC Avant Garde Gothic"/>
                  <a:sym typeface="ITC Avant Garde Gothic"/>
                </a:rPr>
                <a:t>User Interface Showcase</a:t>
              </a:r>
            </a:p>
          </p:txBody>
        </p:sp>
        <p:sp>
          <p:nvSpPr>
            <p:cNvPr name="TextBox 12" id="12"/>
            <p:cNvSpPr txBox="true"/>
            <p:nvPr/>
          </p:nvSpPr>
          <p:spPr>
            <a:xfrm rot="0">
              <a:off x="0" y="2105271"/>
              <a:ext cx="17000307" cy="643764"/>
            </a:xfrm>
            <a:prstGeom prst="rect">
              <a:avLst/>
            </a:prstGeom>
          </p:spPr>
          <p:txBody>
            <a:bodyPr anchor="t" rtlCol="false" tIns="0" lIns="0" bIns="0" rIns="0">
              <a:spAutoFit/>
            </a:bodyPr>
            <a:lstStyle/>
            <a:p>
              <a:pPr algn="l" marL="0" indent="0" lvl="0">
                <a:lnSpc>
                  <a:spcPts val="3477"/>
                </a:lnSpc>
                <a:spcBef>
                  <a:spcPct val="0"/>
                </a:spcBef>
              </a:pPr>
              <a:r>
                <a:rPr lang="en-US" sz="2898" spc="-86" strike="noStrike" u="none">
                  <a:solidFill>
                    <a:srgbClr val="C6E2FF"/>
                  </a:solidFill>
                  <a:latin typeface="ITC Avant Garde Gothic"/>
                  <a:ea typeface="ITC Avant Garde Gothic"/>
                  <a:cs typeface="ITC Avant Garde Gothic"/>
                  <a:sym typeface="ITC Avant Garde Gothic"/>
                </a:rPr>
                <a:t>Clean and Intuitive Design</a:t>
              </a:r>
            </a:p>
          </p:txBody>
        </p:sp>
        <p:sp>
          <p:nvSpPr>
            <p:cNvPr name="TextBox 13" id="13"/>
            <p:cNvSpPr txBox="true"/>
            <p:nvPr/>
          </p:nvSpPr>
          <p:spPr>
            <a:xfrm rot="0">
              <a:off x="0" y="3203997"/>
              <a:ext cx="10052955" cy="1319449"/>
            </a:xfrm>
            <a:prstGeom prst="rect">
              <a:avLst/>
            </a:prstGeom>
          </p:spPr>
          <p:txBody>
            <a:bodyPr anchor="t" rtlCol="false" tIns="0" lIns="0" bIns="0" rIns="0">
              <a:spAutoFit/>
            </a:bodyPr>
            <a:lstStyle/>
            <a:p>
              <a:pPr algn="l" marL="0" indent="0" lvl="0">
                <a:lnSpc>
                  <a:spcPts val="2662"/>
                </a:lnSpc>
                <a:spcBef>
                  <a:spcPct val="0"/>
                </a:spcBef>
              </a:pPr>
              <a:r>
                <a:rPr lang="en-US" sz="1901" strike="noStrike" u="none">
                  <a:solidFill>
                    <a:srgbClr val="DBEFFF"/>
                  </a:solidFill>
                  <a:latin typeface="TT Fors"/>
                  <a:ea typeface="TT Fors"/>
                  <a:cs typeface="TT Fors"/>
                  <a:sym typeface="TT Fors"/>
                </a:rPr>
                <a:t>The LIFE app features a user-friendly interface designed for seamless navigation, enabling users to easily monitor indoor environmental conditions and access key information effortlessly.</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8324850" cy="7061640"/>
            <a:chOff x="0" y="0"/>
            <a:chExt cx="11099800" cy="9415520"/>
          </a:xfrm>
        </p:grpSpPr>
        <p:sp>
          <p:nvSpPr>
            <p:cNvPr name="TextBox 3" id="3"/>
            <p:cNvSpPr txBox="true"/>
            <p:nvPr/>
          </p:nvSpPr>
          <p:spPr>
            <a:xfrm rot="0">
              <a:off x="0" y="-9525"/>
              <a:ext cx="11099800" cy="43190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FFFFFF"/>
                  </a:solidFill>
                  <a:latin typeface="ITC Avant Garde Gothic"/>
                  <a:ea typeface="ITC Avant Garde Gothic"/>
                  <a:cs typeface="ITC Avant Garde Gothic"/>
                  <a:sym typeface="ITC Avant Garde Gothic"/>
                </a:rPr>
                <a:t>Database &amp; Backend Integration</a:t>
              </a:r>
            </a:p>
          </p:txBody>
        </p:sp>
        <p:sp>
          <p:nvSpPr>
            <p:cNvPr name="TextBox 4" id="4"/>
            <p:cNvSpPr txBox="true"/>
            <p:nvPr/>
          </p:nvSpPr>
          <p:spPr>
            <a:xfrm rot="0">
              <a:off x="0" y="4555865"/>
              <a:ext cx="11099800" cy="1362075"/>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C6E2FF"/>
                  </a:solidFill>
                  <a:latin typeface="ITC Avant Garde Gothic"/>
                  <a:ea typeface="ITC Avant Garde Gothic"/>
                  <a:cs typeface="ITC Avant Garde Gothic"/>
                  <a:sym typeface="ITC Avant Garde Gothic"/>
                </a:rPr>
                <a:t>Seamless connectivity for accurate monitoring</a:t>
              </a:r>
            </a:p>
          </p:txBody>
        </p:sp>
        <p:sp>
          <p:nvSpPr>
            <p:cNvPr name="TextBox 5" id="5"/>
            <p:cNvSpPr txBox="true"/>
            <p:nvPr/>
          </p:nvSpPr>
          <p:spPr>
            <a:xfrm rot="0">
              <a:off x="0" y="6972040"/>
              <a:ext cx="9182100" cy="2443480"/>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DBEFFF"/>
                  </a:solidFill>
                  <a:latin typeface="TT Fors"/>
                  <a:ea typeface="TT Fors"/>
                  <a:cs typeface="TT Fors"/>
                  <a:sym typeface="TT Fors"/>
                </a:rPr>
                <a:t>The app utilizes Firebase for real-time updates, ensuring consistent data flow and storage. This integration allows for accurate monitoring and immediate user notifications, enhancing user experience and app reliability.</a:t>
              </a:r>
            </a:p>
          </p:txBody>
        </p:sp>
      </p:grpSp>
      <p:grpSp>
        <p:nvGrpSpPr>
          <p:cNvPr name="Group 6" id="6"/>
          <p:cNvGrpSpPr/>
          <p:nvPr/>
        </p:nvGrpSpPr>
        <p:grpSpPr>
          <a:xfrm rot="0">
            <a:off x="10734675" y="0"/>
            <a:ext cx="7553325" cy="10287000"/>
            <a:chOff x="0" y="0"/>
            <a:chExt cx="1170208" cy="1593725"/>
          </a:xfrm>
        </p:grpSpPr>
        <p:sp>
          <p:nvSpPr>
            <p:cNvPr name="Freeform 7" id="7"/>
            <p:cNvSpPr/>
            <p:nvPr/>
          </p:nvSpPr>
          <p:spPr>
            <a:xfrm flipH="false" flipV="false" rot="0">
              <a:off x="0" y="0"/>
              <a:ext cx="1170208" cy="1593725"/>
            </a:xfrm>
            <a:custGeom>
              <a:avLst/>
              <a:gdLst/>
              <a:ahLst/>
              <a:cxnLst/>
              <a:rect r="r" b="b" t="t" l="l"/>
              <a:pathLst>
                <a:path h="1593725" w="1170208">
                  <a:moveTo>
                    <a:pt x="0" y="0"/>
                  </a:moveTo>
                  <a:lnTo>
                    <a:pt x="1170208" y="0"/>
                  </a:lnTo>
                  <a:lnTo>
                    <a:pt x="1170208" y="1593725"/>
                  </a:lnTo>
                  <a:lnTo>
                    <a:pt x="0" y="1593725"/>
                  </a:lnTo>
                  <a:close/>
                </a:path>
              </a:pathLst>
            </a:custGeom>
            <a:blipFill>
              <a:blip r:embed="rId2"/>
              <a:stretch>
                <a:fillRect l="0" t="-205" r="0" b="-205"/>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A8DCA"/>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5762625" cy="2232026"/>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FFFFFF"/>
                </a:solidFill>
                <a:latin typeface="ITC Avant Garde Gothic"/>
                <a:ea typeface="ITC Avant Garde Gothic"/>
                <a:cs typeface="ITC Avant Garde Gothic"/>
                <a:sym typeface="ITC Avant Garde Gothic"/>
              </a:rPr>
              <a:t>Analytics Integration</a:t>
            </a:r>
          </a:p>
        </p:txBody>
      </p:sp>
      <p:sp>
        <p:nvSpPr>
          <p:cNvPr name="TextBox 3" id="3"/>
          <p:cNvSpPr txBox="true"/>
          <p:nvPr/>
        </p:nvSpPr>
        <p:spPr>
          <a:xfrm rot="0">
            <a:off x="9445807" y="990600"/>
            <a:ext cx="7424439" cy="4442460"/>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DBEFFF"/>
                </a:solidFill>
                <a:latin typeface="TT Fors"/>
                <a:ea typeface="TT Fors"/>
                <a:cs typeface="TT Fors"/>
                <a:sym typeface="TT Fors"/>
              </a:rPr>
              <a:t>Firebase Analytics is crucial for understanding user engagement and app performance. It tracks essential usage patterns, providing insights into how users interact with the app. This data helps refine features and enhances user experience through:</a:t>
            </a:r>
          </a:p>
          <a:p>
            <a:pPr algn="l" marL="453390" indent="-226695" lvl="1">
              <a:lnSpc>
                <a:spcPts val="2940"/>
              </a:lnSpc>
              <a:spcBef>
                <a:spcPct val="0"/>
              </a:spcBef>
              <a:buFont typeface="Arial"/>
              <a:buChar char="•"/>
            </a:pPr>
            <a:r>
              <a:rPr lang="en-US" sz="2100">
                <a:solidFill>
                  <a:srgbClr val="DBEFFF"/>
                </a:solidFill>
                <a:latin typeface="TT Fors"/>
                <a:ea typeface="TT Fors"/>
                <a:cs typeface="TT Fors"/>
                <a:sym typeface="TT Fors"/>
              </a:rPr>
              <a:t>Monitoring user session durations</a:t>
            </a:r>
          </a:p>
          <a:p>
            <a:pPr algn="l" marL="453390" indent="-226695" lvl="1">
              <a:lnSpc>
                <a:spcPts val="2940"/>
              </a:lnSpc>
              <a:spcBef>
                <a:spcPct val="0"/>
              </a:spcBef>
              <a:buFont typeface="Arial"/>
              <a:buChar char="•"/>
            </a:pPr>
            <a:r>
              <a:rPr lang="en-US" sz="2100">
                <a:solidFill>
                  <a:srgbClr val="DBEFFF"/>
                </a:solidFill>
                <a:latin typeface="TT Fors"/>
                <a:ea typeface="TT Fors"/>
                <a:cs typeface="TT Fors"/>
                <a:sym typeface="TT Fors"/>
              </a:rPr>
              <a:t>Identifying popular app features</a:t>
            </a:r>
          </a:p>
          <a:p>
            <a:pPr algn="l" marL="453390" indent="-226695" lvl="1">
              <a:lnSpc>
                <a:spcPts val="2940"/>
              </a:lnSpc>
              <a:spcBef>
                <a:spcPct val="0"/>
              </a:spcBef>
              <a:buFont typeface="Arial"/>
              <a:buChar char="•"/>
            </a:pPr>
            <a:r>
              <a:rPr lang="en-US" sz="2100">
                <a:solidFill>
                  <a:srgbClr val="DBEFFF"/>
                </a:solidFill>
                <a:latin typeface="TT Fors"/>
                <a:ea typeface="TT Fors"/>
                <a:cs typeface="TT Fors"/>
                <a:sym typeface="TT Fors"/>
              </a:rPr>
              <a:t>Collecting feedback for continuous improvement</a:t>
            </a:r>
          </a:p>
          <a:p>
            <a:pPr algn="l" marL="453390" indent="-226695" lvl="1">
              <a:lnSpc>
                <a:spcPts val="2940"/>
              </a:lnSpc>
              <a:spcBef>
                <a:spcPct val="0"/>
              </a:spcBef>
              <a:buFont typeface="Arial"/>
              <a:buChar char="•"/>
            </a:pPr>
            <a:r>
              <a:rPr lang="en-US" sz="2100">
                <a:solidFill>
                  <a:srgbClr val="DBEFFF"/>
                </a:solidFill>
                <a:latin typeface="TT Fors"/>
                <a:ea typeface="TT Fors"/>
                <a:cs typeface="TT Fors"/>
                <a:sym typeface="TT Fors"/>
              </a:rPr>
              <a:t>By leveraging these insights, the LIFE Environmental Solutions app can evolve to better meet user needs, ensuring sustained engagement and satisfaction while promoting healthier indoor environments.</a:t>
            </a:r>
          </a:p>
        </p:txBody>
      </p:sp>
      <p:grpSp>
        <p:nvGrpSpPr>
          <p:cNvPr name="Group 4" id="4"/>
          <p:cNvGrpSpPr/>
          <p:nvPr/>
        </p:nvGrpSpPr>
        <p:grpSpPr>
          <a:xfrm rot="0">
            <a:off x="-1303343" y="7829550"/>
            <a:ext cx="4846643" cy="1791955"/>
            <a:chOff x="0" y="0"/>
            <a:chExt cx="6462190" cy="2389273"/>
          </a:xfrm>
        </p:grpSpPr>
        <p:sp>
          <p:nvSpPr>
            <p:cNvPr name="Freeform 5" id="5"/>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A8DCA"/>
        </a:solidFill>
      </p:bgPr>
    </p:bg>
    <p:spTree>
      <p:nvGrpSpPr>
        <p:cNvPr id="1" name=""/>
        <p:cNvGrpSpPr/>
        <p:nvPr/>
      </p:nvGrpSpPr>
      <p:grpSpPr>
        <a:xfrm>
          <a:off x="0" y="0"/>
          <a:ext cx="0" cy="0"/>
          <a:chOff x="0" y="0"/>
          <a:chExt cx="0" cy="0"/>
        </a:xfrm>
      </p:grpSpPr>
      <p:grpSp>
        <p:nvGrpSpPr>
          <p:cNvPr name="Group 2" id="2"/>
          <p:cNvGrpSpPr/>
          <p:nvPr/>
        </p:nvGrpSpPr>
        <p:grpSpPr>
          <a:xfrm rot="0">
            <a:off x="-1303343" y="7829550"/>
            <a:ext cx="4846643" cy="1791955"/>
            <a:chOff x="0" y="0"/>
            <a:chExt cx="6462190" cy="2389273"/>
          </a:xfrm>
        </p:grpSpPr>
        <p:sp>
          <p:nvSpPr>
            <p:cNvPr name="Freeform 3" id="3"/>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6" id="6"/>
          <p:cNvSpPr/>
          <p:nvPr/>
        </p:nvSpPr>
        <p:spPr>
          <a:xfrm flipH="false" flipV="false" rot="0">
            <a:off x="666750" y="3273409"/>
            <a:ext cx="7050778" cy="6348095"/>
          </a:xfrm>
          <a:custGeom>
            <a:avLst/>
            <a:gdLst/>
            <a:ahLst/>
            <a:cxnLst/>
            <a:rect r="r" b="b" t="t" l="l"/>
            <a:pathLst>
              <a:path h="6348095" w="7050778">
                <a:moveTo>
                  <a:pt x="0" y="0"/>
                </a:moveTo>
                <a:lnTo>
                  <a:pt x="7050778" y="0"/>
                </a:lnTo>
                <a:lnTo>
                  <a:pt x="7050778" y="6348096"/>
                </a:lnTo>
                <a:lnTo>
                  <a:pt x="0" y="6348096"/>
                </a:lnTo>
                <a:lnTo>
                  <a:pt x="0" y="0"/>
                </a:lnTo>
                <a:close/>
              </a:path>
            </a:pathLst>
          </a:custGeom>
          <a:blipFill>
            <a:blip r:embed="rId4"/>
            <a:stretch>
              <a:fillRect l="0" t="0" r="0" b="0"/>
            </a:stretch>
          </a:blipFill>
        </p:spPr>
      </p:sp>
      <p:sp>
        <p:nvSpPr>
          <p:cNvPr name="Freeform 7" id="7"/>
          <p:cNvSpPr/>
          <p:nvPr/>
        </p:nvSpPr>
        <p:spPr>
          <a:xfrm flipH="false" flipV="false" rot="0">
            <a:off x="9144000" y="97962"/>
            <a:ext cx="7688703" cy="6201570"/>
          </a:xfrm>
          <a:custGeom>
            <a:avLst/>
            <a:gdLst/>
            <a:ahLst/>
            <a:cxnLst/>
            <a:rect r="r" b="b" t="t" l="l"/>
            <a:pathLst>
              <a:path h="6201570" w="7688703">
                <a:moveTo>
                  <a:pt x="0" y="0"/>
                </a:moveTo>
                <a:lnTo>
                  <a:pt x="7688703" y="0"/>
                </a:lnTo>
                <a:lnTo>
                  <a:pt x="7688703" y="6201570"/>
                </a:lnTo>
                <a:lnTo>
                  <a:pt x="0" y="6201570"/>
                </a:lnTo>
                <a:lnTo>
                  <a:pt x="0" y="0"/>
                </a:lnTo>
                <a:close/>
              </a:path>
            </a:pathLst>
          </a:custGeom>
          <a:blipFill>
            <a:blip r:embed="rId5"/>
            <a:stretch>
              <a:fillRect l="-1609" t="0" r="-1609" b="0"/>
            </a:stretch>
          </a:blipFill>
        </p:spPr>
      </p:sp>
      <p:sp>
        <p:nvSpPr>
          <p:cNvPr name="TextBox 8" id="8"/>
          <p:cNvSpPr txBox="true"/>
          <p:nvPr/>
        </p:nvSpPr>
        <p:spPr>
          <a:xfrm rot="0">
            <a:off x="666750" y="657225"/>
            <a:ext cx="5762625" cy="2232026"/>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FFFFFF"/>
                </a:solidFill>
                <a:latin typeface="ITC Avant Garde Gothic"/>
                <a:ea typeface="ITC Avant Garde Gothic"/>
                <a:cs typeface="ITC Avant Garde Gothic"/>
                <a:sym typeface="ITC Avant Garde Gothic"/>
              </a:rPr>
              <a:t>Analytics Integration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A8DCA"/>
        </a:solidFill>
      </p:bgPr>
    </p:bg>
    <p:spTree>
      <p:nvGrpSpPr>
        <p:cNvPr id="1" name=""/>
        <p:cNvGrpSpPr/>
        <p:nvPr/>
      </p:nvGrpSpPr>
      <p:grpSpPr>
        <a:xfrm>
          <a:off x="0" y="0"/>
          <a:ext cx="0" cy="0"/>
          <a:chOff x="0" y="0"/>
          <a:chExt cx="0" cy="0"/>
        </a:xfrm>
      </p:grpSpPr>
      <p:grpSp>
        <p:nvGrpSpPr>
          <p:cNvPr name="Group 2" id="2"/>
          <p:cNvGrpSpPr/>
          <p:nvPr/>
        </p:nvGrpSpPr>
        <p:grpSpPr>
          <a:xfrm rot="0">
            <a:off x="-1303343" y="7829550"/>
            <a:ext cx="4846643" cy="1791955"/>
            <a:chOff x="0" y="0"/>
            <a:chExt cx="6462190" cy="2389273"/>
          </a:xfrm>
        </p:grpSpPr>
        <p:sp>
          <p:nvSpPr>
            <p:cNvPr name="Freeform 3" id="3"/>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6" id="6"/>
          <p:cNvSpPr/>
          <p:nvPr/>
        </p:nvSpPr>
        <p:spPr>
          <a:xfrm flipH="false" flipV="false" rot="0">
            <a:off x="1428700" y="3510123"/>
            <a:ext cx="7529868" cy="6272113"/>
          </a:xfrm>
          <a:custGeom>
            <a:avLst/>
            <a:gdLst/>
            <a:ahLst/>
            <a:cxnLst/>
            <a:rect r="r" b="b" t="t" l="l"/>
            <a:pathLst>
              <a:path h="6272113" w="7529868">
                <a:moveTo>
                  <a:pt x="0" y="0"/>
                </a:moveTo>
                <a:lnTo>
                  <a:pt x="7529868" y="0"/>
                </a:lnTo>
                <a:lnTo>
                  <a:pt x="7529868" y="6272114"/>
                </a:lnTo>
                <a:lnTo>
                  <a:pt x="0" y="6272114"/>
                </a:lnTo>
                <a:lnTo>
                  <a:pt x="0" y="0"/>
                </a:lnTo>
                <a:close/>
              </a:path>
            </a:pathLst>
          </a:custGeom>
          <a:blipFill>
            <a:blip r:embed="rId4"/>
            <a:stretch>
              <a:fillRect l="0" t="0" r="0" b="0"/>
            </a:stretch>
          </a:blipFill>
        </p:spPr>
      </p:sp>
      <p:sp>
        <p:nvSpPr>
          <p:cNvPr name="Freeform 7" id="7"/>
          <p:cNvSpPr/>
          <p:nvPr/>
        </p:nvSpPr>
        <p:spPr>
          <a:xfrm flipH="false" flipV="false" rot="0">
            <a:off x="9144000" y="1318242"/>
            <a:ext cx="9144000" cy="5041785"/>
          </a:xfrm>
          <a:custGeom>
            <a:avLst/>
            <a:gdLst/>
            <a:ahLst/>
            <a:cxnLst/>
            <a:rect r="r" b="b" t="t" l="l"/>
            <a:pathLst>
              <a:path h="5041785" w="9144000">
                <a:moveTo>
                  <a:pt x="0" y="0"/>
                </a:moveTo>
                <a:lnTo>
                  <a:pt x="9144000" y="0"/>
                </a:lnTo>
                <a:lnTo>
                  <a:pt x="9144000" y="5041786"/>
                </a:lnTo>
                <a:lnTo>
                  <a:pt x="0" y="5041786"/>
                </a:lnTo>
                <a:lnTo>
                  <a:pt x="0" y="0"/>
                </a:lnTo>
                <a:close/>
              </a:path>
            </a:pathLst>
          </a:custGeom>
          <a:blipFill>
            <a:blip r:embed="rId5"/>
            <a:stretch>
              <a:fillRect l="-4878" t="-5453" r="-4878" b="0"/>
            </a:stretch>
          </a:blipFill>
        </p:spPr>
      </p:sp>
      <p:sp>
        <p:nvSpPr>
          <p:cNvPr name="TextBox 8" id="8"/>
          <p:cNvSpPr txBox="true"/>
          <p:nvPr/>
        </p:nvSpPr>
        <p:spPr>
          <a:xfrm rot="0">
            <a:off x="666750" y="657225"/>
            <a:ext cx="5762625" cy="2232026"/>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FFFFFF"/>
                </a:solidFill>
                <a:latin typeface="ITC Avant Garde Gothic"/>
                <a:ea typeface="ITC Avant Garde Gothic"/>
                <a:cs typeface="ITC Avant Garde Gothic"/>
                <a:sym typeface="ITC Avant Garde Gothic"/>
              </a:rPr>
              <a:t>Analytics Integration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B3D91"/>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5762625" cy="3241676"/>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FFFFFF"/>
                </a:solidFill>
                <a:latin typeface="ITC Avant Garde Gothic"/>
                <a:ea typeface="ITC Avant Garde Gothic"/>
                <a:cs typeface="ITC Avant Garde Gothic"/>
                <a:sym typeface="ITC Avant Garde Gothic"/>
              </a:rPr>
              <a:t>Testing &amp; Quality Assurance</a:t>
            </a:r>
          </a:p>
        </p:txBody>
      </p:sp>
      <p:sp>
        <p:nvSpPr>
          <p:cNvPr name="TextBox 3" id="3"/>
          <p:cNvSpPr txBox="true"/>
          <p:nvPr/>
        </p:nvSpPr>
        <p:spPr>
          <a:xfrm rot="0">
            <a:off x="9716420" y="1525090"/>
            <a:ext cx="7542880" cy="6082837"/>
          </a:xfrm>
          <a:prstGeom prst="rect">
            <a:avLst/>
          </a:prstGeom>
        </p:spPr>
        <p:txBody>
          <a:bodyPr anchor="t" rtlCol="false" tIns="0" lIns="0" bIns="0" rIns="0">
            <a:spAutoFit/>
          </a:bodyPr>
          <a:lstStyle/>
          <a:p>
            <a:pPr algn="l" marL="0" indent="0" lvl="0">
              <a:lnSpc>
                <a:spcPts val="3220"/>
              </a:lnSpc>
              <a:spcBef>
                <a:spcPct val="0"/>
              </a:spcBef>
            </a:pPr>
            <a:r>
              <a:rPr lang="en-US" sz="2300">
                <a:solidFill>
                  <a:srgbClr val="DBEFFF"/>
                </a:solidFill>
                <a:latin typeface="TT Fors"/>
                <a:ea typeface="TT Fors"/>
                <a:cs typeface="TT Fors"/>
                <a:sym typeface="TT Fors"/>
              </a:rPr>
              <a:t>To ensure the highest standards of quality in the LIFE Environmental Solutions app, we implemented a comprehensive testing strategy:</a:t>
            </a:r>
          </a:p>
          <a:p>
            <a:pPr algn="l" marL="496599" indent="-248300" lvl="1">
              <a:lnSpc>
                <a:spcPts val="3220"/>
              </a:lnSpc>
              <a:spcBef>
                <a:spcPct val="0"/>
              </a:spcBef>
              <a:buFont typeface="Arial"/>
              <a:buChar char="•"/>
            </a:pPr>
            <a:r>
              <a:rPr lang="en-US" b="true" sz="2300">
                <a:solidFill>
                  <a:srgbClr val="DBEFFF"/>
                </a:solidFill>
                <a:latin typeface="TT Fors Bold"/>
                <a:ea typeface="TT Fors Bold"/>
                <a:cs typeface="TT Fors Bold"/>
                <a:sym typeface="TT Fors Bold"/>
              </a:rPr>
              <a:t>JUnit Testing</a:t>
            </a:r>
            <a:r>
              <a:rPr lang="en-US" sz="2300">
                <a:solidFill>
                  <a:srgbClr val="DBEFFF"/>
                </a:solidFill>
                <a:latin typeface="TT Fors"/>
                <a:ea typeface="TT Fors"/>
                <a:cs typeface="TT Fors"/>
                <a:sym typeface="TT Fors"/>
              </a:rPr>
              <a:t>: Automated unit tests that validate the functionality of individual components, ensuring reliability.</a:t>
            </a:r>
          </a:p>
          <a:p>
            <a:pPr algn="l" marL="496599" indent="-248300" lvl="1">
              <a:lnSpc>
                <a:spcPts val="3220"/>
              </a:lnSpc>
              <a:spcBef>
                <a:spcPct val="0"/>
              </a:spcBef>
              <a:buFont typeface="Arial"/>
              <a:buChar char="•"/>
            </a:pPr>
            <a:r>
              <a:rPr lang="en-US" b="true" sz="2300">
                <a:solidFill>
                  <a:srgbClr val="DBEFFF"/>
                </a:solidFill>
                <a:latin typeface="TT Fors Bold"/>
                <a:ea typeface="TT Fors Bold"/>
                <a:cs typeface="TT Fors Bold"/>
                <a:sym typeface="TT Fors Bold"/>
              </a:rPr>
              <a:t>Espresso Testing</a:t>
            </a:r>
            <a:r>
              <a:rPr lang="en-US" sz="2300">
                <a:solidFill>
                  <a:srgbClr val="DBEFFF"/>
                </a:solidFill>
                <a:latin typeface="TT Fors"/>
                <a:ea typeface="TT Fors"/>
                <a:cs typeface="TT Fors"/>
                <a:sym typeface="TT Fors"/>
              </a:rPr>
              <a:t>: UI testing framework for Android that guarantees user interfaces behave as intended, enhancing user experience.</a:t>
            </a:r>
          </a:p>
          <a:p>
            <a:pPr algn="l" marL="496599" indent="-248300" lvl="1">
              <a:lnSpc>
                <a:spcPts val="3220"/>
              </a:lnSpc>
              <a:spcBef>
                <a:spcPct val="0"/>
              </a:spcBef>
              <a:buFont typeface="Arial"/>
              <a:buChar char="•"/>
            </a:pPr>
            <a:r>
              <a:rPr lang="en-US" b="true" sz="2300">
                <a:solidFill>
                  <a:srgbClr val="DBEFFF"/>
                </a:solidFill>
                <a:latin typeface="TT Fors Bold"/>
                <a:ea typeface="TT Fors Bold"/>
                <a:cs typeface="TT Fors Bold"/>
                <a:sym typeface="TT Fors Bold"/>
              </a:rPr>
              <a:t>Performance Monitoring</a:t>
            </a:r>
            <a:r>
              <a:rPr lang="en-US" sz="2300">
                <a:solidFill>
                  <a:srgbClr val="DBEFFF"/>
                </a:solidFill>
                <a:latin typeface="TT Fors"/>
                <a:ea typeface="TT Fors"/>
                <a:cs typeface="TT Fors"/>
                <a:sym typeface="TT Fors"/>
              </a:rPr>
              <a:t>: Ongoing tracking of app performance metrics to identify and rectify potential issues proactively.</a:t>
            </a:r>
          </a:p>
          <a:p>
            <a:pPr algn="l" marL="496599" indent="-248300" lvl="1">
              <a:lnSpc>
                <a:spcPts val="3220"/>
              </a:lnSpc>
              <a:spcBef>
                <a:spcPct val="0"/>
              </a:spcBef>
              <a:buFont typeface="Arial"/>
              <a:buChar char="•"/>
            </a:pPr>
            <a:r>
              <a:rPr lang="en-US" b="true" sz="2300">
                <a:solidFill>
                  <a:srgbClr val="DBEFFF"/>
                </a:solidFill>
                <a:latin typeface="TT Fors Bold"/>
                <a:ea typeface="TT Fors Bold"/>
                <a:cs typeface="TT Fors Bold"/>
                <a:sym typeface="TT Fors Bold"/>
              </a:rPr>
              <a:t>Thorough QA Process</a:t>
            </a:r>
            <a:r>
              <a:rPr lang="en-US" sz="2300">
                <a:solidFill>
                  <a:srgbClr val="DBEFFF"/>
                </a:solidFill>
                <a:latin typeface="TT Fors"/>
                <a:ea typeface="TT Fors"/>
                <a:cs typeface="TT Fors"/>
                <a:sym typeface="TT Fors"/>
              </a:rPr>
              <a:t>: Continuous integration and deployment practices allow for timely detection of bugs and consistent app stability.</a:t>
            </a:r>
          </a:p>
        </p:txBody>
      </p:sp>
      <p:grpSp>
        <p:nvGrpSpPr>
          <p:cNvPr name="Group 4" id="4"/>
          <p:cNvGrpSpPr/>
          <p:nvPr/>
        </p:nvGrpSpPr>
        <p:grpSpPr>
          <a:xfrm rot="0">
            <a:off x="-1303343" y="7829550"/>
            <a:ext cx="4846643" cy="1791955"/>
            <a:chOff x="0" y="0"/>
            <a:chExt cx="6462190" cy="2389273"/>
          </a:xfrm>
        </p:grpSpPr>
        <p:sp>
          <p:nvSpPr>
            <p:cNvPr name="Freeform 5" id="5"/>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1303343" y="7829550"/>
            <a:ext cx="4846643" cy="1791955"/>
            <a:chOff x="0" y="0"/>
            <a:chExt cx="6462190" cy="2389273"/>
          </a:xfrm>
        </p:grpSpPr>
        <p:sp>
          <p:nvSpPr>
            <p:cNvPr name="Freeform 3" id="3"/>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6" id="6"/>
          <p:cNvSpPr/>
          <p:nvPr/>
        </p:nvSpPr>
        <p:spPr>
          <a:xfrm flipH="false" flipV="false" rot="0">
            <a:off x="358908" y="3912639"/>
            <a:ext cx="9475296" cy="5708866"/>
          </a:xfrm>
          <a:custGeom>
            <a:avLst/>
            <a:gdLst/>
            <a:ahLst/>
            <a:cxnLst/>
            <a:rect r="r" b="b" t="t" l="l"/>
            <a:pathLst>
              <a:path h="5708866" w="9475296">
                <a:moveTo>
                  <a:pt x="0" y="0"/>
                </a:moveTo>
                <a:lnTo>
                  <a:pt x="9475296" y="0"/>
                </a:lnTo>
                <a:lnTo>
                  <a:pt x="9475296" y="5708866"/>
                </a:lnTo>
                <a:lnTo>
                  <a:pt x="0" y="5708866"/>
                </a:lnTo>
                <a:lnTo>
                  <a:pt x="0" y="0"/>
                </a:lnTo>
                <a:close/>
              </a:path>
            </a:pathLst>
          </a:custGeom>
          <a:blipFill>
            <a:blip r:embed="rId4"/>
            <a:stretch>
              <a:fillRect l="0" t="0" r="0" b="0"/>
            </a:stretch>
          </a:blipFill>
        </p:spPr>
      </p:sp>
      <p:sp>
        <p:nvSpPr>
          <p:cNvPr name="TextBox 7" id="7"/>
          <p:cNvSpPr txBox="true"/>
          <p:nvPr/>
        </p:nvSpPr>
        <p:spPr>
          <a:xfrm rot="0">
            <a:off x="666750" y="657225"/>
            <a:ext cx="5762625" cy="3241676"/>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FFFFFF"/>
                </a:solidFill>
                <a:latin typeface="ITC Avant Garde Gothic"/>
                <a:ea typeface="ITC Avant Garde Gothic"/>
                <a:cs typeface="ITC Avant Garde Gothic"/>
                <a:sym typeface="ITC Avant Garde Gothic"/>
              </a:rPr>
              <a:t>Testing &amp; Quality Assurance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666750" y="6038850"/>
            <a:ext cx="2571750" cy="2698115"/>
            <a:chOff x="0" y="0"/>
            <a:chExt cx="3429000" cy="3597487"/>
          </a:xfrm>
        </p:grpSpPr>
        <p:sp>
          <p:nvSpPr>
            <p:cNvPr name="TextBox 3" id="3"/>
            <p:cNvSpPr txBox="true"/>
            <p:nvPr/>
          </p:nvSpPr>
          <p:spPr>
            <a:xfrm rot="0">
              <a:off x="0" y="1154007"/>
              <a:ext cx="3429000" cy="2443480"/>
            </a:xfrm>
            <a:prstGeom prst="rect">
              <a:avLst/>
            </a:prstGeom>
          </p:spPr>
          <p:txBody>
            <a:bodyPr anchor="t" rtlCol="false" tIns="0" lIns="0" bIns="0" rIns="0">
              <a:spAutoFit/>
            </a:bodyPr>
            <a:lstStyle/>
            <a:p>
              <a:pPr algn="l" marL="0" indent="0" lvl="0">
                <a:lnSpc>
                  <a:spcPts val="2940"/>
                </a:lnSpc>
              </a:pPr>
              <a:r>
                <a:rPr lang="en-US" sz="2100" spc="-52">
                  <a:solidFill>
                    <a:srgbClr val="DBEFFF"/>
                  </a:solidFill>
                  <a:latin typeface="TT Fors"/>
                  <a:ea typeface="TT Fors"/>
                  <a:cs typeface="TT Fors"/>
                  <a:sym typeface="TT Fors"/>
                </a:rPr>
                <a:t>AI-driven alerts will provide proactive environmental management recommendations.</a:t>
              </a:r>
            </a:p>
          </p:txBody>
        </p:sp>
        <p:sp>
          <p:nvSpPr>
            <p:cNvPr name="TextBox 4" id="4"/>
            <p:cNvSpPr txBox="true"/>
            <p:nvPr/>
          </p:nvSpPr>
          <p:spPr>
            <a:xfrm rot="0">
              <a:off x="0" y="-66675"/>
              <a:ext cx="2199121" cy="714375"/>
            </a:xfrm>
            <a:prstGeom prst="rect">
              <a:avLst/>
            </a:prstGeom>
          </p:spPr>
          <p:txBody>
            <a:bodyPr anchor="t" rtlCol="false" tIns="0" lIns="0" bIns="0" rIns="0">
              <a:spAutoFit/>
            </a:bodyPr>
            <a:lstStyle/>
            <a:p>
              <a:pPr algn="l" marL="0" indent="0" lvl="1">
                <a:lnSpc>
                  <a:spcPts val="3839"/>
                </a:lnSpc>
                <a:spcBef>
                  <a:spcPct val="0"/>
                </a:spcBef>
              </a:pPr>
              <a:r>
                <a:rPr lang="en-US" sz="3199" spc="-95" strike="noStrike" u="none">
                  <a:solidFill>
                    <a:srgbClr val="C6E2FF"/>
                  </a:solidFill>
                  <a:latin typeface="ITC Avant Garde Gothic"/>
                  <a:ea typeface="ITC Avant Garde Gothic"/>
                  <a:cs typeface="ITC Avant Garde Gothic"/>
                  <a:sym typeface="ITC Avant Garde Gothic"/>
                </a:rPr>
                <a:t>01</a:t>
              </a:r>
            </a:p>
          </p:txBody>
        </p:sp>
      </p:grpSp>
      <p:grpSp>
        <p:nvGrpSpPr>
          <p:cNvPr name="Group 5" id="5"/>
          <p:cNvGrpSpPr/>
          <p:nvPr/>
        </p:nvGrpSpPr>
        <p:grpSpPr>
          <a:xfrm rot="0">
            <a:off x="4981575" y="6038850"/>
            <a:ext cx="2571750" cy="2326640"/>
            <a:chOff x="0" y="0"/>
            <a:chExt cx="3429000" cy="3102187"/>
          </a:xfrm>
        </p:grpSpPr>
        <p:sp>
          <p:nvSpPr>
            <p:cNvPr name="TextBox 6" id="6"/>
            <p:cNvSpPr txBox="true"/>
            <p:nvPr/>
          </p:nvSpPr>
          <p:spPr>
            <a:xfrm rot="0">
              <a:off x="0" y="1154007"/>
              <a:ext cx="3429000" cy="1948180"/>
            </a:xfrm>
            <a:prstGeom prst="rect">
              <a:avLst/>
            </a:prstGeom>
          </p:spPr>
          <p:txBody>
            <a:bodyPr anchor="t" rtlCol="false" tIns="0" lIns="0" bIns="0" rIns="0">
              <a:spAutoFit/>
            </a:bodyPr>
            <a:lstStyle/>
            <a:p>
              <a:pPr algn="l" marL="0" indent="0" lvl="0">
                <a:lnSpc>
                  <a:spcPts val="2940"/>
                </a:lnSpc>
              </a:pPr>
              <a:r>
                <a:rPr lang="en-US" sz="2100" spc="-52">
                  <a:solidFill>
                    <a:srgbClr val="DBEFFF"/>
                  </a:solidFill>
                  <a:latin typeface="TT Fors"/>
                  <a:ea typeface="TT Fors"/>
                  <a:cs typeface="TT Fors"/>
                  <a:sym typeface="TT Fors"/>
                </a:rPr>
                <a:t>Smart home integration will enhance user control over indoor settings.</a:t>
              </a:r>
            </a:p>
          </p:txBody>
        </p:sp>
        <p:sp>
          <p:nvSpPr>
            <p:cNvPr name="TextBox 7" id="7"/>
            <p:cNvSpPr txBox="true"/>
            <p:nvPr/>
          </p:nvSpPr>
          <p:spPr>
            <a:xfrm rot="0">
              <a:off x="0" y="-66675"/>
              <a:ext cx="2199121" cy="714375"/>
            </a:xfrm>
            <a:prstGeom prst="rect">
              <a:avLst/>
            </a:prstGeom>
          </p:spPr>
          <p:txBody>
            <a:bodyPr anchor="t" rtlCol="false" tIns="0" lIns="0" bIns="0" rIns="0">
              <a:spAutoFit/>
            </a:bodyPr>
            <a:lstStyle/>
            <a:p>
              <a:pPr algn="l" marL="0" indent="0" lvl="1">
                <a:lnSpc>
                  <a:spcPts val="3839"/>
                </a:lnSpc>
                <a:spcBef>
                  <a:spcPct val="0"/>
                </a:spcBef>
              </a:pPr>
              <a:r>
                <a:rPr lang="en-US" sz="3199" spc="-95" strike="noStrike" u="none">
                  <a:solidFill>
                    <a:srgbClr val="C6E2FF"/>
                  </a:solidFill>
                  <a:latin typeface="ITC Avant Garde Gothic"/>
                  <a:ea typeface="ITC Avant Garde Gothic"/>
                  <a:cs typeface="ITC Avant Garde Gothic"/>
                  <a:sym typeface="ITC Avant Garde Gothic"/>
                </a:rPr>
                <a:t>02</a:t>
              </a:r>
            </a:p>
          </p:txBody>
        </p:sp>
      </p:grpSp>
      <p:grpSp>
        <p:nvGrpSpPr>
          <p:cNvPr name="Group 8" id="8"/>
          <p:cNvGrpSpPr/>
          <p:nvPr/>
        </p:nvGrpSpPr>
        <p:grpSpPr>
          <a:xfrm rot="0">
            <a:off x="9296400" y="6038850"/>
            <a:ext cx="2571750" cy="2326640"/>
            <a:chOff x="0" y="0"/>
            <a:chExt cx="3429000" cy="3102187"/>
          </a:xfrm>
        </p:grpSpPr>
        <p:sp>
          <p:nvSpPr>
            <p:cNvPr name="TextBox 9" id="9"/>
            <p:cNvSpPr txBox="true"/>
            <p:nvPr/>
          </p:nvSpPr>
          <p:spPr>
            <a:xfrm rot="0">
              <a:off x="0" y="1154007"/>
              <a:ext cx="3429000" cy="1948180"/>
            </a:xfrm>
            <a:prstGeom prst="rect">
              <a:avLst/>
            </a:prstGeom>
          </p:spPr>
          <p:txBody>
            <a:bodyPr anchor="t" rtlCol="false" tIns="0" lIns="0" bIns="0" rIns="0">
              <a:spAutoFit/>
            </a:bodyPr>
            <a:lstStyle/>
            <a:p>
              <a:pPr algn="l" marL="0" indent="0" lvl="0">
                <a:lnSpc>
                  <a:spcPts val="2940"/>
                </a:lnSpc>
              </a:pPr>
              <a:r>
                <a:rPr lang="en-US" sz="2100" spc="-52">
                  <a:solidFill>
                    <a:srgbClr val="DBEFFF"/>
                  </a:solidFill>
                  <a:latin typeface="TT Fors"/>
                  <a:ea typeface="TT Fors"/>
                  <a:cs typeface="TT Fors"/>
                  <a:sym typeface="TT Fors"/>
                </a:rPr>
                <a:t>An advanced analytics dashboard will facilitate deeper insights for users.</a:t>
              </a:r>
            </a:p>
          </p:txBody>
        </p:sp>
        <p:sp>
          <p:nvSpPr>
            <p:cNvPr name="TextBox 10" id="10"/>
            <p:cNvSpPr txBox="true"/>
            <p:nvPr/>
          </p:nvSpPr>
          <p:spPr>
            <a:xfrm rot="0">
              <a:off x="0" y="-66675"/>
              <a:ext cx="2199121" cy="714375"/>
            </a:xfrm>
            <a:prstGeom prst="rect">
              <a:avLst/>
            </a:prstGeom>
          </p:spPr>
          <p:txBody>
            <a:bodyPr anchor="t" rtlCol="false" tIns="0" lIns="0" bIns="0" rIns="0">
              <a:spAutoFit/>
            </a:bodyPr>
            <a:lstStyle/>
            <a:p>
              <a:pPr algn="l" marL="0" indent="0" lvl="1">
                <a:lnSpc>
                  <a:spcPts val="3839"/>
                </a:lnSpc>
                <a:spcBef>
                  <a:spcPct val="0"/>
                </a:spcBef>
              </a:pPr>
              <a:r>
                <a:rPr lang="en-US" sz="3199" spc="-95" strike="noStrike" u="none">
                  <a:solidFill>
                    <a:srgbClr val="C6E2FF"/>
                  </a:solidFill>
                  <a:latin typeface="ITC Avant Garde Gothic"/>
                  <a:ea typeface="ITC Avant Garde Gothic"/>
                  <a:cs typeface="ITC Avant Garde Gothic"/>
                  <a:sym typeface="ITC Avant Garde Gothic"/>
                </a:rPr>
                <a:t>03</a:t>
              </a:r>
            </a:p>
          </p:txBody>
        </p:sp>
      </p:grpSp>
      <p:grpSp>
        <p:nvGrpSpPr>
          <p:cNvPr name="Group 11" id="11"/>
          <p:cNvGrpSpPr/>
          <p:nvPr/>
        </p:nvGrpSpPr>
        <p:grpSpPr>
          <a:xfrm rot="0">
            <a:off x="13611225" y="6038850"/>
            <a:ext cx="2571750" cy="2326640"/>
            <a:chOff x="0" y="0"/>
            <a:chExt cx="3429000" cy="3102187"/>
          </a:xfrm>
        </p:grpSpPr>
        <p:sp>
          <p:nvSpPr>
            <p:cNvPr name="TextBox 12" id="12"/>
            <p:cNvSpPr txBox="true"/>
            <p:nvPr/>
          </p:nvSpPr>
          <p:spPr>
            <a:xfrm rot="0">
              <a:off x="0" y="1154007"/>
              <a:ext cx="3429000" cy="1948180"/>
            </a:xfrm>
            <a:prstGeom prst="rect">
              <a:avLst/>
            </a:prstGeom>
          </p:spPr>
          <p:txBody>
            <a:bodyPr anchor="t" rtlCol="false" tIns="0" lIns="0" bIns="0" rIns="0">
              <a:spAutoFit/>
            </a:bodyPr>
            <a:lstStyle/>
            <a:p>
              <a:pPr algn="l" marL="0" indent="0" lvl="0">
                <a:lnSpc>
                  <a:spcPts val="2940"/>
                </a:lnSpc>
              </a:pPr>
              <a:r>
                <a:rPr lang="en-US" sz="2100" spc="-52">
                  <a:solidFill>
                    <a:srgbClr val="DBEFFF"/>
                  </a:solidFill>
                  <a:latin typeface="TT Fors"/>
                  <a:ea typeface="TT Fors"/>
                  <a:cs typeface="TT Fors"/>
                  <a:sym typeface="TT Fors"/>
                </a:rPr>
                <a:t>Predictive models will optimize energy usage and indoor air quality.</a:t>
              </a:r>
            </a:p>
          </p:txBody>
        </p:sp>
        <p:sp>
          <p:nvSpPr>
            <p:cNvPr name="TextBox 13" id="13"/>
            <p:cNvSpPr txBox="true"/>
            <p:nvPr/>
          </p:nvSpPr>
          <p:spPr>
            <a:xfrm rot="0">
              <a:off x="0" y="-66675"/>
              <a:ext cx="2199121" cy="714375"/>
            </a:xfrm>
            <a:prstGeom prst="rect">
              <a:avLst/>
            </a:prstGeom>
          </p:spPr>
          <p:txBody>
            <a:bodyPr anchor="t" rtlCol="false" tIns="0" lIns="0" bIns="0" rIns="0">
              <a:spAutoFit/>
            </a:bodyPr>
            <a:lstStyle/>
            <a:p>
              <a:pPr algn="l" marL="0" indent="0" lvl="1">
                <a:lnSpc>
                  <a:spcPts val="3839"/>
                </a:lnSpc>
                <a:spcBef>
                  <a:spcPct val="0"/>
                </a:spcBef>
              </a:pPr>
              <a:r>
                <a:rPr lang="en-US" sz="3199" spc="-95" strike="noStrike" u="none">
                  <a:solidFill>
                    <a:srgbClr val="C6E2FF"/>
                  </a:solidFill>
                  <a:latin typeface="ITC Avant Garde Gothic"/>
                  <a:ea typeface="ITC Avant Garde Gothic"/>
                  <a:cs typeface="ITC Avant Garde Gothic"/>
                  <a:sym typeface="ITC Avant Garde Gothic"/>
                </a:rPr>
                <a:t>04</a:t>
              </a:r>
            </a:p>
          </p:txBody>
        </p:sp>
      </p:grpSp>
      <p:sp>
        <p:nvSpPr>
          <p:cNvPr name="TextBox 14" id="14"/>
          <p:cNvSpPr txBox="true"/>
          <p:nvPr/>
        </p:nvSpPr>
        <p:spPr>
          <a:xfrm rot="0">
            <a:off x="666750" y="657225"/>
            <a:ext cx="14077950" cy="1222376"/>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FFFFFF"/>
                </a:solidFill>
                <a:latin typeface="ITC Avant Garde Gothic"/>
                <a:ea typeface="ITC Avant Garde Gothic"/>
                <a:cs typeface="ITC Avant Garde Gothic"/>
                <a:sym typeface="ITC Avant Garde Gothic"/>
              </a:rPr>
              <a:t>Future Enhancements</a:t>
            </a:r>
          </a:p>
        </p:txBody>
      </p:sp>
      <p:grpSp>
        <p:nvGrpSpPr>
          <p:cNvPr name="Group 15" id="15"/>
          <p:cNvGrpSpPr/>
          <p:nvPr/>
        </p:nvGrpSpPr>
        <p:grpSpPr>
          <a:xfrm rot="0">
            <a:off x="666750" y="5143500"/>
            <a:ext cx="819150" cy="446049"/>
            <a:chOff x="0" y="0"/>
            <a:chExt cx="1092200" cy="594732"/>
          </a:xfrm>
        </p:grpSpPr>
        <p:sp>
          <p:nvSpPr>
            <p:cNvPr name="Freeform 16" id="16"/>
            <p:cNvSpPr/>
            <p:nvPr/>
          </p:nvSpPr>
          <p:spPr>
            <a:xfrm flipH="false" flipV="false" rot="0">
              <a:off x="497468" y="0"/>
              <a:ext cx="594732" cy="594732"/>
            </a:xfrm>
            <a:custGeom>
              <a:avLst/>
              <a:gdLst/>
              <a:ahLst/>
              <a:cxnLst/>
              <a:rect r="r" b="b" t="t" l="l"/>
              <a:pathLst>
                <a:path h="594732" w="594732">
                  <a:moveTo>
                    <a:pt x="0" y="0"/>
                  </a:moveTo>
                  <a:lnTo>
                    <a:pt x="594732" y="0"/>
                  </a:lnTo>
                  <a:lnTo>
                    <a:pt x="594732" y="594732"/>
                  </a:lnTo>
                  <a:lnTo>
                    <a:pt x="0" y="594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7" id="17"/>
            <p:cNvSpPr/>
            <p:nvPr/>
          </p:nvSpPr>
          <p:spPr>
            <a:xfrm flipH="false" flipV="false" rot="0">
              <a:off x="0" y="0"/>
              <a:ext cx="594732" cy="594732"/>
            </a:xfrm>
            <a:custGeom>
              <a:avLst/>
              <a:gdLst/>
              <a:ahLst/>
              <a:cxnLst/>
              <a:rect r="r" b="b" t="t" l="l"/>
              <a:pathLst>
                <a:path h="594732" w="594732">
                  <a:moveTo>
                    <a:pt x="0" y="0"/>
                  </a:moveTo>
                  <a:lnTo>
                    <a:pt x="594732" y="0"/>
                  </a:lnTo>
                  <a:lnTo>
                    <a:pt x="594732" y="594732"/>
                  </a:lnTo>
                  <a:lnTo>
                    <a:pt x="0" y="594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grpSp>
        <p:nvGrpSpPr>
          <p:cNvPr name="Group 18" id="18"/>
          <p:cNvGrpSpPr/>
          <p:nvPr/>
        </p:nvGrpSpPr>
        <p:grpSpPr>
          <a:xfrm rot="0">
            <a:off x="4981575" y="5143500"/>
            <a:ext cx="819150" cy="446049"/>
            <a:chOff x="0" y="0"/>
            <a:chExt cx="1092200" cy="594732"/>
          </a:xfrm>
        </p:grpSpPr>
        <p:sp>
          <p:nvSpPr>
            <p:cNvPr name="Freeform 19" id="19"/>
            <p:cNvSpPr/>
            <p:nvPr/>
          </p:nvSpPr>
          <p:spPr>
            <a:xfrm flipH="false" flipV="false" rot="0">
              <a:off x="497468" y="0"/>
              <a:ext cx="594732" cy="594732"/>
            </a:xfrm>
            <a:custGeom>
              <a:avLst/>
              <a:gdLst/>
              <a:ahLst/>
              <a:cxnLst/>
              <a:rect r="r" b="b" t="t" l="l"/>
              <a:pathLst>
                <a:path h="594732" w="594732">
                  <a:moveTo>
                    <a:pt x="0" y="0"/>
                  </a:moveTo>
                  <a:lnTo>
                    <a:pt x="594732" y="0"/>
                  </a:lnTo>
                  <a:lnTo>
                    <a:pt x="594732" y="594732"/>
                  </a:lnTo>
                  <a:lnTo>
                    <a:pt x="0" y="594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0" id="20"/>
            <p:cNvSpPr/>
            <p:nvPr/>
          </p:nvSpPr>
          <p:spPr>
            <a:xfrm flipH="false" flipV="false" rot="0">
              <a:off x="0" y="0"/>
              <a:ext cx="594732" cy="594732"/>
            </a:xfrm>
            <a:custGeom>
              <a:avLst/>
              <a:gdLst/>
              <a:ahLst/>
              <a:cxnLst/>
              <a:rect r="r" b="b" t="t" l="l"/>
              <a:pathLst>
                <a:path h="594732" w="594732">
                  <a:moveTo>
                    <a:pt x="0" y="0"/>
                  </a:moveTo>
                  <a:lnTo>
                    <a:pt x="594732" y="0"/>
                  </a:lnTo>
                  <a:lnTo>
                    <a:pt x="594732" y="594732"/>
                  </a:lnTo>
                  <a:lnTo>
                    <a:pt x="0" y="594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grpSp>
        <p:nvGrpSpPr>
          <p:cNvPr name="Group 21" id="21"/>
          <p:cNvGrpSpPr/>
          <p:nvPr/>
        </p:nvGrpSpPr>
        <p:grpSpPr>
          <a:xfrm rot="0">
            <a:off x="9296400" y="5143500"/>
            <a:ext cx="819150" cy="446049"/>
            <a:chOff x="0" y="0"/>
            <a:chExt cx="1092200" cy="594732"/>
          </a:xfrm>
        </p:grpSpPr>
        <p:sp>
          <p:nvSpPr>
            <p:cNvPr name="Freeform 22" id="22"/>
            <p:cNvSpPr/>
            <p:nvPr/>
          </p:nvSpPr>
          <p:spPr>
            <a:xfrm flipH="false" flipV="false" rot="0">
              <a:off x="497468" y="0"/>
              <a:ext cx="594732" cy="594732"/>
            </a:xfrm>
            <a:custGeom>
              <a:avLst/>
              <a:gdLst/>
              <a:ahLst/>
              <a:cxnLst/>
              <a:rect r="r" b="b" t="t" l="l"/>
              <a:pathLst>
                <a:path h="594732" w="594732">
                  <a:moveTo>
                    <a:pt x="0" y="0"/>
                  </a:moveTo>
                  <a:lnTo>
                    <a:pt x="594732" y="0"/>
                  </a:lnTo>
                  <a:lnTo>
                    <a:pt x="594732" y="594732"/>
                  </a:lnTo>
                  <a:lnTo>
                    <a:pt x="0" y="594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3" id="23"/>
            <p:cNvSpPr/>
            <p:nvPr/>
          </p:nvSpPr>
          <p:spPr>
            <a:xfrm flipH="false" flipV="false" rot="0">
              <a:off x="0" y="0"/>
              <a:ext cx="594732" cy="594732"/>
            </a:xfrm>
            <a:custGeom>
              <a:avLst/>
              <a:gdLst/>
              <a:ahLst/>
              <a:cxnLst/>
              <a:rect r="r" b="b" t="t" l="l"/>
              <a:pathLst>
                <a:path h="594732" w="594732">
                  <a:moveTo>
                    <a:pt x="0" y="0"/>
                  </a:moveTo>
                  <a:lnTo>
                    <a:pt x="594732" y="0"/>
                  </a:lnTo>
                  <a:lnTo>
                    <a:pt x="594732" y="594732"/>
                  </a:lnTo>
                  <a:lnTo>
                    <a:pt x="0" y="594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grpSp>
        <p:nvGrpSpPr>
          <p:cNvPr name="Group 24" id="24"/>
          <p:cNvGrpSpPr/>
          <p:nvPr/>
        </p:nvGrpSpPr>
        <p:grpSpPr>
          <a:xfrm rot="0">
            <a:off x="13611225" y="5143500"/>
            <a:ext cx="819150" cy="446049"/>
            <a:chOff x="0" y="0"/>
            <a:chExt cx="1092200" cy="594732"/>
          </a:xfrm>
        </p:grpSpPr>
        <p:sp>
          <p:nvSpPr>
            <p:cNvPr name="Freeform 25" id="25"/>
            <p:cNvSpPr/>
            <p:nvPr/>
          </p:nvSpPr>
          <p:spPr>
            <a:xfrm flipH="false" flipV="false" rot="0">
              <a:off x="497468" y="0"/>
              <a:ext cx="594732" cy="594732"/>
            </a:xfrm>
            <a:custGeom>
              <a:avLst/>
              <a:gdLst/>
              <a:ahLst/>
              <a:cxnLst/>
              <a:rect r="r" b="b" t="t" l="l"/>
              <a:pathLst>
                <a:path h="594732" w="594732">
                  <a:moveTo>
                    <a:pt x="0" y="0"/>
                  </a:moveTo>
                  <a:lnTo>
                    <a:pt x="594732" y="0"/>
                  </a:lnTo>
                  <a:lnTo>
                    <a:pt x="594732" y="594732"/>
                  </a:lnTo>
                  <a:lnTo>
                    <a:pt x="0" y="594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6" id="26"/>
            <p:cNvSpPr/>
            <p:nvPr/>
          </p:nvSpPr>
          <p:spPr>
            <a:xfrm flipH="false" flipV="false" rot="0">
              <a:off x="0" y="0"/>
              <a:ext cx="594732" cy="594732"/>
            </a:xfrm>
            <a:custGeom>
              <a:avLst/>
              <a:gdLst/>
              <a:ahLst/>
              <a:cxnLst/>
              <a:rect r="r" b="b" t="t" l="l"/>
              <a:pathLst>
                <a:path h="594732" w="594732">
                  <a:moveTo>
                    <a:pt x="0" y="0"/>
                  </a:moveTo>
                  <a:lnTo>
                    <a:pt x="594732" y="0"/>
                  </a:lnTo>
                  <a:lnTo>
                    <a:pt x="594732" y="594732"/>
                  </a:lnTo>
                  <a:lnTo>
                    <a:pt x="0" y="594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Smart Indoor Environmental Monitoring</dc:description>
  <dc:identifier>DAG6T2KNgos</dc:identifier>
  <dcterms:modified xsi:type="dcterms:W3CDTF">2011-08-01T06:04:30Z</dcterms:modified>
  <cp:revision>1</cp:revision>
  <dc:title>Presentation - Smart Indoor Environmental Monitoring</dc:title>
</cp:coreProperties>
</file>